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228600"/>
            <a:ext cx="283464" cy="347472"/>
          </a:xfrm>
          <a:prstGeom prst="rect">
            <a:avLst/>
          </a:prstGeom>
          <a:solidFill>
            <a:srgbClr val="008C65"/>
          </a:solidFill>
          <a:ln w="8890">
            <a:solidFill>
              <a:srgbClr val="008C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74352" y="2377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BNP PARIBAS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Qu’avons-nous réalisé ?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solution d’extraction intelligente d’informations à partir de documents bancaires pour soutenir la recertification des clients particuliers LR.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" y="6574536"/>
            <a:ext cx="11320272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662025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IA  |  Recertification des clients particuliers LR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84864" y="66111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" y="2267712"/>
            <a:ext cx="3611880" cy="3090672"/>
          </a:xfrm>
          <a:prstGeom prst="roundRect">
            <a:avLst>
              <a:gd name="adj" fmla="val 2959"/>
            </a:avLst>
          </a:prstGeom>
          <a:solidFill>
            <a:srgbClr val="F5F7F8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496312"/>
            <a:ext cx="557784" cy="393192"/>
          </a:xfrm>
          <a:prstGeom prst="roundRect">
            <a:avLst>
              <a:gd name="adj" fmla="val 25581"/>
            </a:avLst>
          </a:prstGeom>
          <a:solidFill>
            <a:srgbClr val="E8ECEF"/>
          </a:solidFill>
          <a:ln w="8890">
            <a:solidFill>
              <a:srgbClr val="E8EC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69464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136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9224" y="3749040"/>
            <a:ext cx="318211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lecture et l’extraction des informations des documents bancaires sont actuellement réalisées manuellement.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87368" y="3611880"/>
            <a:ext cx="210312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2267712"/>
            <a:ext cx="3611880" cy="3090672"/>
          </a:xfrm>
          <a:prstGeom prst="roundRect">
            <a:avLst>
              <a:gd name="adj" fmla="val 2959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2496312"/>
            <a:ext cx="557784" cy="393192"/>
          </a:xfrm>
          <a:prstGeom prst="roundRect">
            <a:avLst>
              <a:gd name="adj" fmla="val 25581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0288" y="2569464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98848" y="3136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507992" y="3749040"/>
            <a:ext cx="318211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solution basée sur l’IA a été développée pour lire les documents et extraire les informations utiles à la recertification.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46136" y="3611880"/>
            <a:ext cx="210312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6448" y="2267712"/>
            <a:ext cx="3611880" cy="3090672"/>
          </a:xfrm>
          <a:prstGeom prst="roundRect">
            <a:avLst>
              <a:gd name="adj" fmla="val 2959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9328" y="2496312"/>
            <a:ext cx="557784" cy="393192"/>
          </a:xfrm>
          <a:prstGeom prst="roundRect">
            <a:avLst>
              <a:gd name="adj" fmla="val 25581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49056" y="2569464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57616" y="3136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366760" y="3749040"/>
            <a:ext cx="318211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Réduire le temps de traitement et les tâches manuelles, tout en préservant les contrôles sur la qualité des données.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8912" y="5605272"/>
            <a:ext cx="11274552" cy="603504"/>
          </a:xfrm>
          <a:prstGeom prst="roundRect">
            <a:avLst>
              <a:gd name="adj" fmla="val 15152"/>
            </a:avLst>
          </a:prstGeom>
          <a:solidFill>
            <a:srgbClr val="F0F8F5"/>
          </a:solidFill>
          <a:ln w="8890">
            <a:solidFill>
              <a:srgbClr val="F0F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5733288"/>
            <a:ext cx="10863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étape concrète vers un traitement documentaire plus rapide, plus fiable et mieux maîtrisé.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228600"/>
            <a:ext cx="283464" cy="347472"/>
          </a:xfrm>
          <a:prstGeom prst="rect">
            <a:avLst/>
          </a:prstGeom>
          <a:solidFill>
            <a:srgbClr val="008C65"/>
          </a:solidFill>
          <a:ln w="8890">
            <a:solidFill>
              <a:srgbClr val="008C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PROBLÉMATIQUE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74352" y="2377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BNP PARIBAS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ce projet existe-t-il ?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processus de recertification repose sur une analyse manuelle des dossiers et un rapprochement détaillé avec ATLAS.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" y="6574536"/>
            <a:ext cx="11320272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662025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IA  |  Recertification des clients particuliers LR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84864" y="66111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PROCESSUS ACTUEL — MANUEL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624" y="2395728"/>
            <a:ext cx="1335024" cy="1143000"/>
          </a:xfrm>
          <a:prstGeom prst="roundRect">
            <a:avLst>
              <a:gd name="adj" fmla="val 8000"/>
            </a:avLst>
          </a:prstGeom>
          <a:solidFill>
            <a:srgbClr val="F6F8F8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278892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Accès au dossier client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55648" y="2807208"/>
            <a:ext cx="10058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74520" y="2395728"/>
            <a:ext cx="1335024" cy="1143000"/>
          </a:xfrm>
          <a:prstGeom prst="roundRect">
            <a:avLst>
              <a:gd name="adj" fmla="val 8000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84248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84248" y="278892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Ouverture des 5 documents requis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9544" y="2807208"/>
            <a:ext cx="10058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28416" y="2395728"/>
            <a:ext cx="1335024" cy="1143000"/>
          </a:xfrm>
          <a:prstGeom prst="roundRect">
            <a:avLst>
              <a:gd name="adj" fmla="val 8000"/>
            </a:avLst>
          </a:prstGeom>
          <a:solidFill>
            <a:srgbClr val="F6F8F8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8144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38144" y="278892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des documents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807208"/>
            <a:ext cx="10058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82312" y="2395728"/>
            <a:ext cx="1335024" cy="1143000"/>
          </a:xfrm>
          <a:prstGeom prst="roundRect">
            <a:avLst>
              <a:gd name="adj" fmla="val 8000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78892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 des informations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17336" y="2807208"/>
            <a:ext cx="10058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6208" y="2395728"/>
            <a:ext cx="1335024" cy="1143000"/>
          </a:xfrm>
          <a:prstGeom prst="roundRect">
            <a:avLst>
              <a:gd name="adj" fmla="val 8000"/>
            </a:avLst>
          </a:prstGeom>
          <a:solidFill>
            <a:srgbClr val="F6F8F8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45936" y="278892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des critères d’éligibilité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71232" y="2807208"/>
            <a:ext cx="10058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90104" y="2395728"/>
            <a:ext cx="1335024" cy="1143000"/>
          </a:xfrm>
          <a:prstGeom prst="roundRect">
            <a:avLst>
              <a:gd name="adj" fmla="val 8000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99832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99832" y="278892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Vérification des champs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25128" y="2807208"/>
            <a:ext cx="10058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0" y="2395728"/>
            <a:ext cx="1335024" cy="1143000"/>
          </a:xfrm>
          <a:prstGeom prst="roundRect">
            <a:avLst>
              <a:gd name="adj" fmla="val 8000"/>
            </a:avLst>
          </a:prstGeom>
          <a:solidFill>
            <a:srgbClr val="F6F8F8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53728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253728" y="278892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Rapprochement ATLAS champ par champ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479024" y="2807208"/>
            <a:ext cx="10058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97896" y="2395728"/>
            <a:ext cx="1335024" cy="1143000"/>
          </a:xfrm>
          <a:prstGeom prst="roundRect">
            <a:avLst>
              <a:gd name="adj" fmla="val 8000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07624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707624" y="278892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Prise de décision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" y="36758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consultés : identité, résidence, FATCA, CA10 et convention de compte.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9768" y="4105656"/>
            <a:ext cx="5669280" cy="1938528"/>
          </a:xfrm>
          <a:prstGeom prst="roundRect">
            <a:avLst>
              <a:gd name="adj" fmla="val 4717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42611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PRINCIPALES DIFFICULTÉS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67512" y="4599432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Temps important de lecture et d’analyse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67512" y="4855464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Volume élevé de dossiers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67512" y="5111496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Qualité variable, documents parfois dupliqués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67512" y="5367528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Risque d’erreurs de lecture ou de saisie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67512" y="5623560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Tâches répétitives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254496" y="4105656"/>
            <a:ext cx="5477256" cy="1938528"/>
          </a:xfrm>
          <a:prstGeom prst="roundRect">
            <a:avLst>
              <a:gd name="adj" fmla="val 4717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6520" y="4261104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RECERTIFICATIONS PRÉVUES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839712" y="460857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9326880" y="46085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6 304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839712" y="48646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9326880" y="486460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7 491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839712" y="5120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2028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9326880" y="51206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8 259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6839712" y="53766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2029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9326880" y="53766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7 108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6839712" y="56327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2030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9326880" y="56327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1 018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473952" y="6080760"/>
            <a:ext cx="5157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Volumes prévus sans application de critères d’éligibilité.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228600"/>
            <a:ext cx="283464" cy="347472"/>
          </a:xfrm>
          <a:prstGeom prst="rect">
            <a:avLst/>
          </a:prstGeom>
          <a:solidFill>
            <a:srgbClr val="008C65"/>
          </a:solidFill>
          <a:ln w="8890">
            <a:solidFill>
              <a:srgbClr val="008C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74352" y="2377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BNP PARIBAS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Qu’est-ce qui change ?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flux cible structuré : contrôle documentaire, lecture intelligente, rapprochement des données et validation métier.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" y="6574536"/>
            <a:ext cx="11320272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662025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IA  |  Recertification des clients particuliers LR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84864" y="66111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" y="2057400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167128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240280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257860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PDF / scans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24328" y="2487168"/>
            <a:ext cx="14630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79776" y="2057400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9504" y="2167128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9232" y="2240280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07792" y="257860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Vérification de présence des fichiers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65192" y="2487168"/>
            <a:ext cx="14630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2057400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0368" y="2167128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0096" y="2240280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48656" y="257860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Détection des doublons selon la taille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06056" y="2487168"/>
            <a:ext cx="14630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61504" y="2057400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71232" y="2167128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2240280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89520" y="257860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intelligente par IA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46920" y="2487168"/>
            <a:ext cx="14630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02368" y="2057400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12096" y="2167128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21824" y="2240280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930384" y="257860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 des informations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8912" y="3557016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3666744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3739896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" y="407822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Contrôles de qualité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624328" y="3986784"/>
            <a:ext cx="14630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79776" y="3557016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89504" y="3666744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99232" y="3739896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907792" y="407822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Structuration fichier et dossier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965192" y="3986784"/>
            <a:ext cx="14630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20640" y="3557016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30368" y="3666744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40096" y="3739896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48656" y="407822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Rapprochement avec ATLAS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306056" y="3986784"/>
            <a:ext cx="14630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61504" y="3557016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71232" y="3666744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80960" y="3739896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589520" y="407822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 de conformité fichier / dossier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646920" y="3986784"/>
            <a:ext cx="146304" cy="283464"/>
          </a:xfrm>
          <a:prstGeom prst="chevron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02368" y="3557016"/>
            <a:ext cx="2185416" cy="1088136"/>
          </a:xfrm>
          <a:prstGeom prst="roundRect">
            <a:avLst>
              <a:gd name="adj" fmla="val 8403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912096" y="3666744"/>
            <a:ext cx="384048" cy="338328"/>
          </a:xfrm>
          <a:prstGeom prst="roundRect">
            <a:avLst>
              <a:gd name="adj" fmla="val 29730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21824" y="3739896"/>
            <a:ext cx="164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930384" y="407822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et utilisation métier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57200" y="5202936"/>
            <a:ext cx="5522976" cy="576072"/>
          </a:xfrm>
          <a:prstGeom prst="roundRect">
            <a:avLst>
              <a:gd name="adj" fmla="val 15873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" y="5330952"/>
            <a:ext cx="5138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FIABLES  →  poursuite du processus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199632" y="5202936"/>
            <a:ext cx="5522976" cy="576072"/>
          </a:xfrm>
          <a:prstGeom prst="roundRect">
            <a:avLst>
              <a:gd name="adj" fmla="val 15873"/>
            </a:avLst>
          </a:prstGeom>
          <a:solidFill>
            <a:srgbClr val="FFF3E7"/>
          </a:solidFill>
          <a:ln w="8890">
            <a:solidFill>
              <a:srgbClr val="FFF3E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0" y="5330952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954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INCERTAINS  →  vérification humaine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57200" y="5916168"/>
            <a:ext cx="11256264" cy="402336"/>
          </a:xfrm>
          <a:prstGeom prst="roundRect">
            <a:avLst>
              <a:gd name="adj" fmla="val 22727"/>
            </a:avLst>
          </a:prstGeom>
          <a:solidFill>
            <a:srgbClr val="F0F8F5"/>
          </a:solidFill>
          <a:ln w="8890">
            <a:solidFill>
              <a:srgbClr val="F0F8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4360" y="5980176"/>
            <a:ext cx="10972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Automatiser ne signifie pas faire confiance aveuglément à l’IA.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228600"/>
            <a:ext cx="283464" cy="347472"/>
          </a:xfrm>
          <a:prstGeom prst="rect">
            <a:avLst/>
          </a:prstGeom>
          <a:solidFill>
            <a:srgbClr val="008C65"/>
          </a:solidFill>
          <a:ln w="8890">
            <a:solidFill>
              <a:srgbClr val="008C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PÉRIMÈTRE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74352" y="2377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BNP PARIBAS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Qu’avons-nous réellement testé ?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Deux matrices à renseigner lors de la finalisation des résultats du prototype.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" y="6574536"/>
            <a:ext cx="11320272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662025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IA  |  Recertification des clients particuliers LR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84864" y="66111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947672"/>
            <a:ext cx="5349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PÉRIMÈTRE DOCUMENTAIRE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295144"/>
            <a:ext cx="1874520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" y="2336292"/>
            <a:ext cx="1792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de document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2331720" y="2295144"/>
            <a:ext cx="941832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2868" y="2336292"/>
            <a:ext cx="859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Multilingue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3273552" y="2295144"/>
            <a:ext cx="777240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4700" y="2336292"/>
            <a:ext cx="6949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Nb pages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4050792" y="2295144"/>
            <a:ext cx="932688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91940" y="2336292"/>
            <a:ext cx="850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Manuscrit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4983480" y="2295144"/>
            <a:ext cx="1188720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4628" y="2336292"/>
            <a:ext cx="1106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Détection OCR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457200" y="2734056"/>
            <a:ext cx="187452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2777033"/>
            <a:ext cx="1764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Justificatif d’identité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31720" y="2734056"/>
            <a:ext cx="941832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86584" y="2777033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73552" y="2734056"/>
            <a:ext cx="77724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28416" y="2777033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50792" y="2734056"/>
            <a:ext cx="932688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05656" y="2777033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83480" y="2734056"/>
            <a:ext cx="118872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38344" y="2777033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063240"/>
            <a:ext cx="187452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3106217"/>
            <a:ext cx="1764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Justificatif de domicile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31720" y="3063240"/>
            <a:ext cx="941832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86584" y="3106217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73552" y="3063240"/>
            <a:ext cx="77724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28416" y="3106217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050792" y="3063240"/>
            <a:ext cx="932688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05656" y="3106217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83480" y="3063240"/>
            <a:ext cx="118872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38344" y="3106217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3392424"/>
            <a:ext cx="187452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3435401"/>
            <a:ext cx="1764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 de compte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331720" y="3392424"/>
            <a:ext cx="941832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86584" y="3435401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73552" y="3392424"/>
            <a:ext cx="77724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28416" y="3435401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50792" y="3392424"/>
            <a:ext cx="932688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05656" y="3435401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983480" y="3392424"/>
            <a:ext cx="118872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38344" y="3435401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3721608"/>
            <a:ext cx="187452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" y="3764585"/>
            <a:ext cx="1764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FATCA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31720" y="3721608"/>
            <a:ext cx="941832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86584" y="3764585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73552" y="3721608"/>
            <a:ext cx="77724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28416" y="3764585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050792" y="3721608"/>
            <a:ext cx="932688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05656" y="3764585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983480" y="3721608"/>
            <a:ext cx="118872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38344" y="3764585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4050792"/>
            <a:ext cx="187452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2064" y="4093769"/>
            <a:ext cx="1764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Carton de signature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331720" y="4050792"/>
            <a:ext cx="941832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386584" y="4093769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273552" y="4050792"/>
            <a:ext cx="77724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28416" y="4093769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050792" y="4050792"/>
            <a:ext cx="932688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05656" y="4093769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983480" y="4050792"/>
            <a:ext cx="118872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38344" y="4093769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327648" y="1947672"/>
            <a:ext cx="5394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CHAMPS CIBLES PAR DOCUMENT</a:t>
            </a: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6327648" y="2295144"/>
            <a:ext cx="1508760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68796" y="2336292"/>
            <a:ext cx="1426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Champ</a:t>
            </a:r>
            <a:endParaRPr lang="en-US" sz="910" dirty="0"/>
          </a:p>
        </p:txBody>
      </p:sp>
      <p:sp>
        <p:nvSpPr>
          <p:cNvPr id="76" name="Shape 74"/>
          <p:cNvSpPr/>
          <p:nvPr/>
        </p:nvSpPr>
        <p:spPr>
          <a:xfrm>
            <a:off x="7836408" y="2295144"/>
            <a:ext cx="777240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77556" y="2336292"/>
            <a:ext cx="6949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Identité</a:t>
            </a:r>
            <a:endParaRPr lang="en-US" sz="910" dirty="0"/>
          </a:p>
        </p:txBody>
      </p:sp>
      <p:sp>
        <p:nvSpPr>
          <p:cNvPr id="78" name="Shape 76"/>
          <p:cNvSpPr/>
          <p:nvPr/>
        </p:nvSpPr>
        <p:spPr>
          <a:xfrm>
            <a:off x="8613648" y="2295144"/>
            <a:ext cx="822960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54796" y="2336292"/>
            <a:ext cx="7406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Domicile</a:t>
            </a:r>
            <a:endParaRPr lang="en-US" sz="910" dirty="0"/>
          </a:p>
        </p:txBody>
      </p:sp>
      <p:sp>
        <p:nvSpPr>
          <p:cNvPr id="80" name="Shape 78"/>
          <p:cNvSpPr/>
          <p:nvPr/>
        </p:nvSpPr>
        <p:spPr>
          <a:xfrm>
            <a:off x="9436608" y="2295144"/>
            <a:ext cx="950976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77756" y="2336292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</a:t>
            </a:r>
            <a:endParaRPr lang="en-US" sz="910" dirty="0"/>
          </a:p>
        </p:txBody>
      </p:sp>
      <p:sp>
        <p:nvSpPr>
          <p:cNvPr id="82" name="Shape 80"/>
          <p:cNvSpPr/>
          <p:nvPr/>
        </p:nvSpPr>
        <p:spPr>
          <a:xfrm>
            <a:off x="10387584" y="2295144"/>
            <a:ext cx="621792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428732" y="2336292"/>
            <a:ext cx="5394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FATCA</a:t>
            </a:r>
            <a:endParaRPr lang="en-US" sz="910" dirty="0"/>
          </a:p>
        </p:txBody>
      </p:sp>
      <p:sp>
        <p:nvSpPr>
          <p:cNvPr id="84" name="Shape 82"/>
          <p:cNvSpPr/>
          <p:nvPr/>
        </p:nvSpPr>
        <p:spPr>
          <a:xfrm>
            <a:off x="11009376" y="2295144"/>
            <a:ext cx="731520" cy="438912"/>
          </a:xfrm>
          <a:prstGeom prst="rect">
            <a:avLst/>
          </a:prstGeom>
          <a:solidFill>
            <a:srgbClr val="004B4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1050524" y="2336292"/>
            <a:ext cx="649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Signature</a:t>
            </a:r>
            <a:endParaRPr lang="en-US" sz="910" dirty="0"/>
          </a:p>
        </p:txBody>
      </p:sp>
      <p:sp>
        <p:nvSpPr>
          <p:cNvPr id="86" name="Shape 84"/>
          <p:cNvSpPr/>
          <p:nvPr/>
        </p:nvSpPr>
        <p:spPr>
          <a:xfrm>
            <a:off x="6327648" y="2734056"/>
            <a:ext cx="150876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82512" y="2777033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et prénom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836408" y="2734056"/>
            <a:ext cx="77724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891272" y="2777033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8613648" y="2734056"/>
            <a:ext cx="82296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668512" y="2777033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9436608" y="2734056"/>
            <a:ext cx="950976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491472" y="2777033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10387584" y="2734056"/>
            <a:ext cx="621792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442448" y="2777033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11009376" y="2734056"/>
            <a:ext cx="73152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1064240" y="2777033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6327648" y="3063240"/>
            <a:ext cx="150876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382512" y="3106217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de naissance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836408" y="3063240"/>
            <a:ext cx="77724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891272" y="3106217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8613648" y="3063240"/>
            <a:ext cx="82296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668512" y="3106217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9436608" y="3063240"/>
            <a:ext cx="950976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491472" y="3106217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10387584" y="3063240"/>
            <a:ext cx="621792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0442448" y="3106217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11009376" y="3063240"/>
            <a:ext cx="73152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1064240" y="3106217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6327648" y="3392424"/>
            <a:ext cx="150876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382512" y="3435401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d’expiration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7836408" y="3392424"/>
            <a:ext cx="77724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891272" y="3435401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8613648" y="3392424"/>
            <a:ext cx="82296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668512" y="3435401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9436608" y="3392424"/>
            <a:ext cx="950976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491472" y="3435401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10387584" y="3392424"/>
            <a:ext cx="621792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442448" y="3435401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11009376" y="3392424"/>
            <a:ext cx="731520" cy="329184"/>
          </a:xfrm>
          <a:prstGeom prst="rect">
            <a:avLst/>
          </a:prstGeom>
          <a:solidFill>
            <a:srgbClr val="F9FBFA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1064240" y="3435401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6327648" y="3721608"/>
            <a:ext cx="150876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382512" y="3764585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Numéro de compte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7836408" y="3721608"/>
            <a:ext cx="77724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891272" y="3764585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8613648" y="3721608"/>
            <a:ext cx="82296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668512" y="3764585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9436608" y="3721608"/>
            <a:ext cx="950976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491472" y="3764585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10387584" y="3721608"/>
            <a:ext cx="621792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442448" y="3764585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11009376" y="3721608"/>
            <a:ext cx="731520" cy="329184"/>
          </a:xfrm>
          <a:prstGeom prst="rect">
            <a:avLst/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1064240" y="3764585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448056" y="4700016"/>
            <a:ext cx="11274552" cy="1179576"/>
          </a:xfrm>
          <a:prstGeom prst="roundRect">
            <a:avLst>
              <a:gd name="adj" fmla="val 7752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49224" y="481888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 D’AVANCEMENT ET PROCHAINES ÉTAPES</a:t>
            </a:r>
            <a:endParaRPr lang="en-US" sz="1500" dirty="0"/>
          </a:p>
        </p:txBody>
      </p:sp>
      <p:sp>
        <p:nvSpPr>
          <p:cNvPr id="136" name="Shape 134"/>
          <p:cNvSpPr/>
          <p:nvPr/>
        </p:nvSpPr>
        <p:spPr>
          <a:xfrm>
            <a:off x="676656" y="5266944"/>
            <a:ext cx="1691640" cy="374904"/>
          </a:xfrm>
          <a:prstGeom prst="roundRect">
            <a:avLst>
              <a:gd name="adj" fmla="val 26829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86384" y="5340096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DÉVELOPPÉ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2560320" y="5266944"/>
            <a:ext cx="1408176" cy="374904"/>
          </a:xfrm>
          <a:prstGeom prst="roundRect">
            <a:avLst>
              <a:gd name="adj" fmla="val 26829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670048" y="53400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TESTÉ</a:t>
            </a:r>
            <a:endParaRPr lang="en-US" sz="1200" dirty="0"/>
          </a:p>
        </p:txBody>
      </p:sp>
      <p:sp>
        <p:nvSpPr>
          <p:cNvPr id="140" name="Text 138"/>
          <p:cNvSpPr/>
          <p:nvPr/>
        </p:nvSpPr>
        <p:spPr>
          <a:xfrm>
            <a:off x="4160520" y="5303520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Lacune : champs manuscrits</a:t>
            </a:r>
            <a:endParaRPr lang="en-US" sz="1100" dirty="0"/>
          </a:p>
        </p:txBody>
      </p:sp>
      <p:sp>
        <p:nvSpPr>
          <p:cNvPr id="141" name="Text 139"/>
          <p:cNvSpPr/>
          <p:nvPr/>
        </p:nvSpPr>
        <p:spPr>
          <a:xfrm>
            <a:off x="6446520" y="5303520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intégrer : similarité avec ATLAS</a:t>
            </a:r>
            <a:endParaRPr lang="en-US" sz="1100" dirty="0"/>
          </a:p>
        </p:txBody>
      </p:sp>
      <p:sp>
        <p:nvSpPr>
          <p:cNvPr id="142" name="Text 140"/>
          <p:cNvSpPr/>
          <p:nvPr/>
        </p:nvSpPr>
        <p:spPr>
          <a:xfrm>
            <a:off x="9171432" y="530352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venir : traitement par lot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448056" y="6007608"/>
            <a:ext cx="11274552" cy="402336"/>
          </a:xfrm>
          <a:prstGeom prst="roundRect">
            <a:avLst>
              <a:gd name="adj" fmla="val 22727"/>
            </a:avLst>
          </a:prstGeom>
          <a:solidFill>
            <a:srgbClr val="FFF3E7"/>
          </a:solidFill>
          <a:ln w="8890">
            <a:solidFill>
              <a:srgbClr val="FFF3E7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85800" y="6080760"/>
            <a:ext cx="10835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51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développé et testé — aucune industrialisation ni validation métier globale revendiquée.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C65"/>
          </a:solidFill>
          <a:ln w="12700">
            <a:solidFill>
              <a:srgbClr val="008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228600"/>
            <a:ext cx="283464" cy="347472"/>
          </a:xfrm>
          <a:prstGeom prst="rect">
            <a:avLst/>
          </a:prstGeom>
          <a:solidFill>
            <a:srgbClr val="008C65"/>
          </a:solidFill>
          <a:ln w="8890">
            <a:solidFill>
              <a:srgbClr val="008C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74352" y="2377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BNP PARIBAS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Montrez-moi concrètement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 de lecture documentaire et de structuration des informations ; les sources et la vidéo seront insérées ultérieurement.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" y="6574536"/>
            <a:ext cx="11320272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662025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IA  |  Recertification des clients particuliers LR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84864" y="66111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" y="1993392"/>
            <a:ext cx="5541264" cy="3520440"/>
          </a:xfrm>
          <a:prstGeom prst="roundRect">
            <a:avLst>
              <a:gd name="adj" fmla="val 2597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7627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ORIGINAUX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2688336"/>
            <a:ext cx="2377440" cy="23957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8890">
            <a:solidFill>
              <a:srgbClr val="A9CE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89864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 de compte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24128" y="3419856"/>
            <a:ext cx="1618488" cy="996696"/>
          </a:xfrm>
          <a:prstGeom prst="rect">
            <a:avLst/>
          </a:prstGeom>
          <a:solidFill>
            <a:srgbClr val="F0F4F2"/>
          </a:solidFill>
          <a:ln w="12700">
            <a:solidFill>
              <a:srgbClr val="B7D5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" y="3639312"/>
            <a:ext cx="1490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anonymisé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insérer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2688336"/>
            <a:ext cx="2377440" cy="23957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8890">
            <a:solidFill>
              <a:srgbClr val="A9CE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289864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Justificatif d’identité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75888" y="3419856"/>
            <a:ext cx="1618488" cy="996696"/>
          </a:xfrm>
          <a:prstGeom prst="rect">
            <a:avLst/>
          </a:prstGeom>
          <a:solidFill>
            <a:srgbClr val="F0F4F2"/>
          </a:solidFill>
          <a:ln w="12700">
            <a:solidFill>
              <a:srgbClr val="B7D5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9896" y="3639312"/>
            <a:ext cx="1490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anonymisé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insérer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1344" y="1993392"/>
            <a:ext cx="5568696" cy="1965960"/>
          </a:xfrm>
          <a:prstGeom prst="roundRect">
            <a:avLst>
              <a:gd name="adj" fmla="val 4651"/>
            </a:avLst>
          </a:prstGeom>
          <a:solidFill>
            <a:srgbClr val="F0F8F5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91656" y="21762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INFORMATIONS EXTRAITES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46520" y="2670048"/>
            <a:ext cx="3429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&amp; prénom 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93808" y="2670048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3035808"/>
            <a:ext cx="3429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de naissance 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93808" y="3035808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3401568"/>
            <a:ext cx="3429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d’expiration du document 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93808" y="3401568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3685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 attendu : à vérifier sur le document source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81344" y="4087368"/>
            <a:ext cx="5568696" cy="1435608"/>
          </a:xfrm>
          <a:prstGeom prst="roundRect">
            <a:avLst>
              <a:gd name="adj" fmla="val 6369"/>
            </a:avLst>
          </a:prstGeom>
          <a:solidFill>
            <a:srgbClr val="F3F6F7"/>
          </a:solidFill>
          <a:ln w="8890">
            <a:solidFill>
              <a:srgbClr val="D9E6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1656" y="4270248"/>
            <a:ext cx="51389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VIDÉO DE DÉMONSTRATION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808976" y="4681728"/>
            <a:ext cx="2267712" cy="530352"/>
          </a:xfrm>
          <a:prstGeom prst="roundRect">
            <a:avLst>
              <a:gd name="adj" fmla="val 18966"/>
            </a:avLst>
          </a:prstGeom>
          <a:solidFill>
            <a:srgbClr val="DDF4EA"/>
          </a:solidFill>
          <a:ln w="8890">
            <a:solidFill>
              <a:srgbClr val="DDF4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18704" y="475488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MP4 à insérer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20624" y="5724144"/>
            <a:ext cx="11329416" cy="539496"/>
          </a:xfrm>
          <a:prstGeom prst="roundRect">
            <a:avLst>
              <a:gd name="adj" fmla="val 16949"/>
            </a:avLst>
          </a:prstGeom>
          <a:solidFill>
            <a:srgbClr val="F0F8F5"/>
          </a:solidFill>
          <a:ln w="8890">
            <a:solidFill>
              <a:srgbClr val="F0F8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585216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Démontrer la valeur de la solution à partir de documents anonymisés et de résultats vérifiables.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IA — Extraction documentaire</dc:title>
  <dc:subject>Recertification clients particuliers LR</dc:subject>
  <dc:creator>OpenAI</dc:creator>
  <cp:lastModifiedBy>OpenAI</cp:lastModifiedBy>
  <cp:revision>1</cp:revision>
  <dcterms:created xsi:type="dcterms:W3CDTF">2026-10-13T14:56:09Z</dcterms:created>
  <dcterms:modified xsi:type="dcterms:W3CDTF">2026-10-13T14:56:09Z</dcterms:modified>
</cp:coreProperties>
</file>