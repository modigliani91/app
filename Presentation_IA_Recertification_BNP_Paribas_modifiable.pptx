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NP 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402" y="6547927"/>
            <a:ext cx="240670" cy="240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1634" y="6569781"/>
            <a:ext cx="1020836" cy="18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691640" y="6562557"/>
            <a:ext cx="0" cy="204186"/>
          </a:xfrm>
          <a:prstGeom prst="line">
            <a:avLst/>
          </a:prstGeom>
          <a:noFill/>
          <a:ln w="15875">
            <a:solidFill>
              <a:srgbClr val="00915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37487" y="6569781"/>
            <a:ext cx="6562557" cy="18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IA – Extraction d’informations pour la recertification des clients particuliers LR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1506261" y="6562557"/>
            <a:ext cx="0" cy="204186"/>
          </a:xfrm>
          <a:prstGeom prst="line">
            <a:avLst/>
          </a:prstGeom>
          <a:noFill/>
          <a:ln w="15875">
            <a:solidFill>
              <a:srgbClr val="00915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Relationship Id="rId11" Type="http://schemas.openxmlformats.org/officeDocument/2006/relationships/image" Target="../media/icon_svg_1.svg"/><Relationship Id="rId12" Type="http://schemas.openxmlformats.org/officeDocument/2006/relationships/image" Target="../media/icon_svg_2.svg"/><Relationship Id="rId13" Type="http://schemas.openxmlformats.org/officeDocument/2006/relationships/image" Target="../media/icon_svg_3.svg"/><Relationship Id="rId14" Type="http://schemas.openxmlformats.org/officeDocument/2006/relationships/image" Target="../media/icon_svg_4.svg"/><Relationship Id="rId15" Type="http://schemas.openxmlformats.org/officeDocument/2006/relationships/image" Target="../media/icon_svg_5.svg"/><Relationship Id="rId16" Type="http://schemas.openxmlformats.org/officeDocument/2006/relationships/image" Target="../media/icon_svg_6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2.xml"/><Relationship Id="rId28" Type="http://schemas.openxmlformats.org/officeDocument/2006/relationships/image" Target="../media/icon_svg_7.svg"/><Relationship Id="rId29" Type="http://schemas.openxmlformats.org/officeDocument/2006/relationships/image" Target="../media/icon_svg_8.svg"/><Relationship Id="rId30" Type="http://schemas.openxmlformats.org/officeDocument/2006/relationships/image" Target="../media/icon_svg_9.svg"/><Relationship Id="rId31" Type="http://schemas.openxmlformats.org/officeDocument/2006/relationships/image" Target="../media/icon_svg_10.svg"/><Relationship Id="rId32" Type="http://schemas.openxmlformats.org/officeDocument/2006/relationships/image" Target="../media/icon_svg_11.svg"/><Relationship Id="rId33" Type="http://schemas.openxmlformats.org/officeDocument/2006/relationships/image" Target="../media/icon_svg_12.svg"/><Relationship Id="rId34" Type="http://schemas.openxmlformats.org/officeDocument/2006/relationships/image" Target="../media/icon_svg_13.svg"/><Relationship Id="rId35" Type="http://schemas.openxmlformats.org/officeDocument/2006/relationships/image" Target="../media/icon_svg_14.svg"/><Relationship Id="rId36" Type="http://schemas.openxmlformats.org/officeDocument/2006/relationships/image" Target="../media/icon_svg_15.svg"/><Relationship Id="rId37" Type="http://schemas.openxmlformats.org/officeDocument/2006/relationships/image" Target="../media/icon_svg_16.svg"/><Relationship Id="rId38" Type="http://schemas.openxmlformats.org/officeDocument/2006/relationships/image" Target="../media/icon_svg_17.svg"/><Relationship Id="rId39" Type="http://schemas.openxmlformats.org/officeDocument/2006/relationships/image" Target="../media/icon_svg_18.svg"/><Relationship Id="rId40" Type="http://schemas.openxmlformats.org/officeDocument/2006/relationships/image" Target="../media/icon_svg_19.svg"/><Relationship Id="rId41" Type="http://schemas.openxmlformats.org/officeDocument/2006/relationships/image" Target="../media/icon_svg_20.svg"/><Relationship Id="rId42" Type="http://schemas.openxmlformats.org/officeDocument/2006/relationships/image" Target="../media/icon_svg_21.svg"/><Relationship Id="rId43" Type="http://schemas.openxmlformats.org/officeDocument/2006/relationships/image" Target="../media/icon_svg_22.svg"/><Relationship Id="rId44" Type="http://schemas.openxmlformats.org/officeDocument/2006/relationships/image" Target="../media/icon_svg_23.svg"/><Relationship Id="rId45" Type="http://schemas.openxmlformats.org/officeDocument/2006/relationships/image" Target="../media/icon_svg_24.svg"/><Relationship Id="rId46" Type="http://schemas.openxmlformats.org/officeDocument/2006/relationships/image" Target="../media/icon_svg_25.svg"/><Relationship Id="rId47" Type="http://schemas.openxmlformats.org/officeDocument/2006/relationships/image" Target="../media/icon_svg_26.svg"/><Relationship Id="rId48" Type="http://schemas.openxmlformats.org/officeDocument/2006/relationships/image" Target="../media/icon_svg_27.svg"/><Relationship Id="rId49" Type="http://schemas.openxmlformats.org/officeDocument/2006/relationships/image" Target="../media/icon_svg_28.svg"/><Relationship Id="rId50" Type="http://schemas.openxmlformats.org/officeDocument/2006/relationships/image" Target="../media/icon_svg_2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3.xml"/><Relationship Id="rId33" Type="http://schemas.openxmlformats.org/officeDocument/2006/relationships/image" Target="../media/icon_svg_30.svg"/><Relationship Id="rId34" Type="http://schemas.openxmlformats.org/officeDocument/2006/relationships/image" Target="../media/icon_svg_31.svg"/><Relationship Id="rId35" Type="http://schemas.openxmlformats.org/officeDocument/2006/relationships/image" Target="../media/icon_svg_32.svg"/><Relationship Id="rId36" Type="http://schemas.openxmlformats.org/officeDocument/2006/relationships/image" Target="../media/icon_svg_33.svg"/><Relationship Id="rId37" Type="http://schemas.openxmlformats.org/officeDocument/2006/relationships/image" Target="../media/icon_svg_34.svg"/><Relationship Id="rId38" Type="http://schemas.openxmlformats.org/officeDocument/2006/relationships/image" Target="../media/icon_svg_35.svg"/><Relationship Id="rId39" Type="http://schemas.openxmlformats.org/officeDocument/2006/relationships/image" Target="../media/icon_svg_36.svg"/><Relationship Id="rId40" Type="http://schemas.openxmlformats.org/officeDocument/2006/relationships/image" Target="../media/icon_svg_37.svg"/><Relationship Id="rId41" Type="http://schemas.openxmlformats.org/officeDocument/2006/relationships/image" Target="../media/icon_svg_38.svg"/><Relationship Id="rId42" Type="http://schemas.openxmlformats.org/officeDocument/2006/relationships/image" Target="../media/icon_svg_39.svg"/><Relationship Id="rId43" Type="http://schemas.openxmlformats.org/officeDocument/2006/relationships/image" Target="../media/icon_svg_40.svg"/><Relationship Id="rId44" Type="http://schemas.openxmlformats.org/officeDocument/2006/relationships/image" Target="../media/icon_svg_41.svg"/><Relationship Id="rId45" Type="http://schemas.openxmlformats.org/officeDocument/2006/relationships/image" Target="../media/icon_svg_42.svg"/><Relationship Id="rId46" Type="http://schemas.openxmlformats.org/officeDocument/2006/relationships/image" Target="../media/icon_svg_43.svg"/><Relationship Id="rId47" Type="http://schemas.openxmlformats.org/officeDocument/2006/relationships/image" Target="../media/icon_svg_44.svg"/><Relationship Id="rId48" Type="http://schemas.openxmlformats.org/officeDocument/2006/relationships/image" Target="../media/icon_svg_45.svg"/><Relationship Id="rId49" Type="http://schemas.openxmlformats.org/officeDocument/2006/relationships/image" Target="../media/icon_svg_46.svg"/><Relationship Id="rId50" Type="http://schemas.openxmlformats.org/officeDocument/2006/relationships/image" Target="../media/icon_svg_47.svg"/><Relationship Id="rId51" Type="http://schemas.openxmlformats.org/officeDocument/2006/relationships/image" Target="../media/icon_svg_48.svg"/><Relationship Id="rId52" Type="http://schemas.openxmlformats.org/officeDocument/2006/relationships/image" Target="../media/icon_svg_49.svg"/><Relationship Id="rId53" Type="http://schemas.openxmlformats.org/officeDocument/2006/relationships/image" Target="../media/icon_svg_50.svg"/><Relationship Id="rId54" Type="http://schemas.openxmlformats.org/officeDocument/2006/relationships/image" Target="../media/icon_svg_51.svg"/><Relationship Id="rId55" Type="http://schemas.openxmlformats.org/officeDocument/2006/relationships/image" Target="../media/icon_svg_52.svg"/><Relationship Id="rId56" Type="http://schemas.openxmlformats.org/officeDocument/2006/relationships/image" Target="../media/icon_svg_53.svg"/><Relationship Id="rId57" Type="http://schemas.openxmlformats.org/officeDocument/2006/relationships/image" Target="../media/icon_svg_54.svg"/><Relationship Id="rId58" Type="http://schemas.openxmlformats.org/officeDocument/2006/relationships/image" Target="../media/icon_svg_55.svg"/><Relationship Id="rId59" Type="http://schemas.openxmlformats.org/officeDocument/2006/relationships/image" Target="../media/icon_svg_56.svg"/><Relationship Id="rId60" Type="http://schemas.openxmlformats.org/officeDocument/2006/relationships/image" Target="../media/icon_svg_57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Relationship Id="rId17" Type="http://schemas.openxmlformats.org/officeDocument/2006/relationships/image" Target="../media/icon_svg_58.svg"/><Relationship Id="rId18" Type="http://schemas.openxmlformats.org/officeDocument/2006/relationships/image" Target="../media/icon_svg_59.svg"/><Relationship Id="rId19" Type="http://schemas.openxmlformats.org/officeDocument/2006/relationships/image" Target="../media/icon_svg_60.svg"/><Relationship Id="rId20" Type="http://schemas.openxmlformats.org/officeDocument/2006/relationships/image" Target="../media/icon_svg_61.svg"/><Relationship Id="rId21" Type="http://schemas.openxmlformats.org/officeDocument/2006/relationships/image" Target="../media/icon_svg_62.svg"/><Relationship Id="rId22" Type="http://schemas.openxmlformats.org/officeDocument/2006/relationships/image" Target="../media/icon_svg_63.svg"/><Relationship Id="rId23" Type="http://schemas.openxmlformats.org/officeDocument/2006/relationships/image" Target="../media/icon_svg_64.svg"/><Relationship Id="rId24" Type="http://schemas.openxmlformats.org/officeDocument/2006/relationships/image" Target="../media/icon_svg_65.svg"/><Relationship Id="rId25" Type="http://schemas.openxmlformats.org/officeDocument/2006/relationships/image" Target="../media/icon_svg_66.svg"/><Relationship Id="rId26" Type="http://schemas.openxmlformats.org/officeDocument/2006/relationships/image" Target="../media/icon_svg_67.svg"/><Relationship Id="rId27" Type="http://schemas.openxmlformats.org/officeDocument/2006/relationships/image" Target="../media/icon_svg_68.svg"/><Relationship Id="rId28" Type="http://schemas.openxmlformats.org/officeDocument/2006/relationships/image" Target="../media/icon_svg_69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Relationship Id="rId19" Type="http://schemas.openxmlformats.org/officeDocument/2006/relationships/image" Target="../media/icon_svg_70.svg"/><Relationship Id="rId20" Type="http://schemas.openxmlformats.org/officeDocument/2006/relationships/image" Target="../media/icon_svg_71.svg"/><Relationship Id="rId21" Type="http://schemas.openxmlformats.org/officeDocument/2006/relationships/image" Target="../media/icon_svg_72.svg"/><Relationship Id="rId22" Type="http://schemas.openxmlformats.org/officeDocument/2006/relationships/image" Target="../media/icon_svg_73.svg"/><Relationship Id="rId23" Type="http://schemas.openxmlformats.org/officeDocument/2006/relationships/image" Target="../media/icon_svg_74.svg"/><Relationship Id="rId24" Type="http://schemas.openxmlformats.org/officeDocument/2006/relationships/image" Target="../media/icon_svg_75.svg"/><Relationship Id="rId25" Type="http://schemas.openxmlformats.org/officeDocument/2006/relationships/image" Target="../media/icon_svg_76.svg"/><Relationship Id="rId26" Type="http://schemas.openxmlformats.org/officeDocument/2006/relationships/image" Target="../media/icon_svg_77.svg"/><Relationship Id="rId27" Type="http://schemas.openxmlformats.org/officeDocument/2006/relationships/image" Target="../media/icon_svg_78.svg"/><Relationship Id="rId28" Type="http://schemas.openxmlformats.org/officeDocument/2006/relationships/image" Target="../media/icon_svg_79.svg"/><Relationship Id="rId29" Type="http://schemas.openxmlformats.org/officeDocument/2006/relationships/image" Target="../media/icon_svg_8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Photo d’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5194" y="729143"/>
            <a:ext cx="3186501" cy="4579132"/>
          </a:xfrm>
          <a:prstGeom prst="rect">
            <a:avLst/>
          </a:prstGeom>
        </p:spPr>
      </p:pic>
      <p:sp>
        <p:nvSpPr>
          <p:cNvPr id="3" name="Numéro de section"/>
          <p:cNvSpPr/>
          <p:nvPr/>
        </p:nvSpPr>
        <p:spPr>
          <a:xfrm>
            <a:off x="291694" y="0"/>
            <a:ext cx="247894" cy="379202"/>
          </a:xfrm>
          <a:prstGeom prst="rect">
            <a:avLst/>
          </a:prstGeom>
          <a:solidFill>
            <a:srgbClr val="3DAE7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91694" y="175016"/>
            <a:ext cx="247894" cy="18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Libellé section"/>
          <p:cNvSpPr txBox="1"/>
          <p:nvPr/>
        </p:nvSpPr>
        <p:spPr>
          <a:xfrm>
            <a:off x="736458" y="175016"/>
            <a:ext cx="4375038" cy="20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6" name="Titre"/>
          <p:cNvSpPr txBox="1"/>
          <p:nvPr/>
        </p:nvSpPr>
        <p:spPr>
          <a:xfrm>
            <a:off x="291694" y="452079"/>
            <a:ext cx="8385414" cy="597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Qu’avons-nous réalisé ?</a:t>
            </a:r>
            <a:endParaRPr lang="en-US" sz="4200" dirty="0"/>
          </a:p>
        </p:txBody>
      </p:sp>
      <p:sp>
        <p:nvSpPr>
          <p:cNvPr id="7" name="Sous-titre"/>
          <p:cNvSpPr txBox="1"/>
          <p:nvPr/>
        </p:nvSpPr>
        <p:spPr>
          <a:xfrm>
            <a:off x="306233" y="1093714"/>
            <a:ext cx="8385414" cy="51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F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d’extraction intelligente d’informations à partir de documents bancaires pour soutenir le processus de recertification des clients particuliers LR.</a:t>
            </a:r>
            <a:endParaRPr lang="en-US" sz="1700" dirty="0"/>
          </a:p>
        </p:txBody>
      </p:sp>
      <p:pic>
        <p:nvPicPr>
          <p:cNvPr id="8" name="Logo BNP Paribas" descr="Logo BNP Parib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452" y="160386"/>
            <a:ext cx="466710" cy="466710"/>
          </a:xfrm>
          <a:prstGeom prst="rect">
            <a:avLst/>
          </a:prstGeom>
        </p:spPr>
      </p:pic>
      <p:sp>
        <p:nvSpPr>
          <p:cNvPr id="9" name="Logo texte"/>
          <p:cNvSpPr txBox="1"/>
          <p:nvPr/>
        </p:nvSpPr>
        <p:spPr>
          <a:xfrm>
            <a:off x="10339578" y="196870"/>
            <a:ext cx="2187519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700" dirty="0"/>
          </a:p>
        </p:txBody>
      </p:sp>
      <p:sp>
        <p:nvSpPr>
          <p:cNvPr id="10" name="Signature"/>
          <p:cNvSpPr txBox="1"/>
          <p:nvPr/>
        </p:nvSpPr>
        <p:spPr>
          <a:xfrm>
            <a:off x="10339578" y="408371"/>
            <a:ext cx="2187519" cy="13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1" name="Carte Constat"/>
          <p:cNvSpPr/>
          <p:nvPr/>
        </p:nvSpPr>
        <p:spPr>
          <a:xfrm>
            <a:off x="401056" y="1786463"/>
            <a:ext cx="2967685" cy="3339572"/>
          </a:xfrm>
          <a:prstGeom prst="roundRect">
            <a:avLst>
              <a:gd name="adj" fmla="val 369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1634" y="2019818"/>
            <a:ext cx="845820" cy="845820"/>
          </a:xfrm>
          <a:prstGeom prst="ellipse">
            <a:avLst/>
          </a:prstGeom>
          <a:solidFill>
            <a:srgbClr val="E8EAEB"/>
          </a:solidFill>
          <a:ln/>
        </p:spPr>
      </p:sp>
      <p:sp>
        <p:nvSpPr>
          <p:cNvPr id="13" name="Shape 9"/>
          <p:cNvSpPr/>
          <p:nvPr/>
        </p:nvSpPr>
        <p:spPr>
          <a:xfrm>
            <a:off x="641634" y="3018800"/>
            <a:ext cx="291694" cy="29169"/>
          </a:xfrm>
          <a:prstGeom prst="rect">
            <a:avLst/>
          </a:prstGeom>
          <a:solidFill>
            <a:srgbClr val="D8244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1634" y="3150017"/>
            <a:ext cx="26031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41634" y="3470880"/>
            <a:ext cx="2530236" cy="153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traitement de certains documents bancaires nécessite actuellement une lecture et une extraction manuelles des informations, entraînant des délais importants, des tâches répétitives et un risque d’erreur de saisie.</a:t>
            </a:r>
            <a:endParaRPr lang="en-US" sz="1350" dirty="0"/>
          </a:p>
        </p:txBody>
      </p:sp>
      <p:sp>
        <p:nvSpPr>
          <p:cNvPr id="16" name="Carte Solution"/>
          <p:cNvSpPr/>
          <p:nvPr/>
        </p:nvSpPr>
        <p:spPr>
          <a:xfrm>
            <a:off x="3645804" y="1786463"/>
            <a:ext cx="2953146" cy="3339572"/>
          </a:xfrm>
          <a:prstGeom prst="roundRect">
            <a:avLst>
              <a:gd name="adj" fmla="val 3716"/>
            </a:avLst>
          </a:prstGeom>
          <a:solidFill>
            <a:srgbClr val="F3FAF6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86474" y="2019818"/>
            <a:ext cx="845820" cy="845820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18" name="Shape 14"/>
          <p:cNvSpPr/>
          <p:nvPr/>
        </p:nvSpPr>
        <p:spPr>
          <a:xfrm>
            <a:off x="3886474" y="3018800"/>
            <a:ext cx="291694" cy="29169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886474" y="3150017"/>
            <a:ext cx="258857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3886474" y="3470880"/>
            <a:ext cx="2515606" cy="153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basée sur l’IA a été développée afin de lire les documents et d’en extraire automatiquement les informations nécessaires au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recertification des clients particuliers LR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Carte Objectif"/>
          <p:cNvSpPr/>
          <p:nvPr/>
        </p:nvSpPr>
        <p:spPr>
          <a:xfrm>
            <a:off x="6832305" y="1786463"/>
            <a:ext cx="2916662" cy="3339572"/>
          </a:xfrm>
          <a:prstGeom prst="roundRect">
            <a:avLst>
              <a:gd name="adj" fmla="val 3762"/>
            </a:avLst>
          </a:prstGeom>
          <a:solidFill>
            <a:srgbClr val="F3FAF6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72975" y="2019818"/>
            <a:ext cx="845820" cy="845820"/>
          </a:xfrm>
          <a:prstGeom prst="ellipse">
            <a:avLst/>
          </a:prstGeom>
          <a:solidFill>
            <a:srgbClr val="DDF3E7"/>
          </a:solidFill>
          <a:ln/>
        </p:spPr>
      </p:sp>
      <p:sp>
        <p:nvSpPr>
          <p:cNvPr id="23" name="Shape 19"/>
          <p:cNvSpPr/>
          <p:nvPr/>
        </p:nvSpPr>
        <p:spPr>
          <a:xfrm>
            <a:off x="7072975" y="3018800"/>
            <a:ext cx="291694" cy="29169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72975" y="3150017"/>
            <a:ext cx="255209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900" dirty="0"/>
          </a:p>
        </p:txBody>
      </p:sp>
      <p:sp>
        <p:nvSpPr>
          <p:cNvPr id="25" name="Text 21"/>
          <p:cNvSpPr txBox="1"/>
          <p:nvPr/>
        </p:nvSpPr>
        <p:spPr>
          <a:xfrm>
            <a:off x="7072975" y="3470880"/>
            <a:ext cx="2479213" cy="153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temps de traitement et les tâches manuelles, tout en maintenant des mécanismes de contrôle sur la qualité des informations extraites.</a:t>
            </a:r>
            <a:endParaRPr lang="en-US" sz="1350" dirty="0"/>
          </a:p>
        </p:txBody>
      </p:sp>
      <p:pic>
        <p:nvPicPr>
          <p:cNvPr id="26" name="Icone 1 - document" descr="docu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7" y="2165665"/>
            <a:ext cx="524957" cy="524957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30198" y="2508382"/>
            <a:ext cx="247894" cy="247894"/>
          </a:xfrm>
          <a:prstGeom prst="ellipse">
            <a:avLst/>
          </a:prstGeom>
          <a:solidFill>
            <a:srgbClr val="D82444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130198" y="2508382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8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83" dirty="0"/>
          </a:p>
        </p:txBody>
      </p:sp>
      <p:pic>
        <p:nvPicPr>
          <p:cNvPr id="29" name="Icone 2 - puce IA" descr="puce 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152" y="2070842"/>
            <a:ext cx="743773" cy="74377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70853" y="2275027"/>
            <a:ext cx="408371" cy="33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600" dirty="0"/>
          </a:p>
        </p:txBody>
      </p:sp>
      <p:pic>
        <p:nvPicPr>
          <p:cNvPr id="31" name="Icone 3 - cible" descr="ci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046" y="2172889"/>
            <a:ext cx="539587" cy="539587"/>
          </a:xfrm>
          <a:prstGeom prst="rect">
            <a:avLst/>
          </a:prstGeom>
        </p:spPr>
      </p:pic>
      <p:pic>
        <p:nvPicPr>
          <p:cNvPr id="32" name="Icone 4 - flèche" descr="flèch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595" y="3266694"/>
            <a:ext cx="247894" cy="247894"/>
          </a:xfrm>
          <a:prstGeom prst="rect">
            <a:avLst/>
          </a:prstGeom>
        </p:spPr>
      </p:pic>
      <p:pic>
        <p:nvPicPr>
          <p:cNvPr id="33" name="Icone 5 - flèche" descr="flèch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950" y="3266694"/>
            <a:ext cx="247894" cy="247894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01056" y="5322905"/>
            <a:ext cx="11382360" cy="918789"/>
          </a:xfrm>
          <a:prstGeom prst="roundRect">
            <a:avLst>
              <a:gd name="adj" fmla="val 9952"/>
            </a:avLst>
          </a:prstGeom>
          <a:solidFill>
            <a:srgbClr val="F0F8F4"/>
          </a:solidFill>
          <a:ln/>
        </p:spPr>
      </p:sp>
      <p:sp>
        <p:nvSpPr>
          <p:cNvPr id="35" name="Shape 26"/>
          <p:cNvSpPr/>
          <p:nvPr/>
        </p:nvSpPr>
        <p:spPr>
          <a:xfrm>
            <a:off x="401056" y="5322905"/>
            <a:ext cx="36485" cy="918789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6" name="Shape 27"/>
          <p:cNvSpPr/>
          <p:nvPr/>
        </p:nvSpPr>
        <p:spPr>
          <a:xfrm>
            <a:off x="641634" y="5446898"/>
            <a:ext cx="656265" cy="656265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37" name="Icone 6 - graphique" descr="graphiqu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627" y="5570891"/>
            <a:ext cx="408371" cy="40837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531254" y="5512552"/>
            <a:ext cx="1006251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étape concrète vers un traitement documentaire plus rapide, plus fiable et plus efficient</a:t>
            </a:r>
            <a:endParaRPr lang="en-US" sz="1800" dirty="0"/>
          </a:p>
        </p:txBody>
      </p:sp>
      <p:sp>
        <p:nvSpPr>
          <p:cNvPr id="39" name="Text 29"/>
          <p:cNvSpPr txBox="1"/>
          <p:nvPr/>
        </p:nvSpPr>
        <p:spPr>
          <a:xfrm>
            <a:off x="1531254" y="5804154"/>
            <a:ext cx="10062515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service de nos clients et de nos exigences réglementaires.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Photo d’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017" y="0"/>
            <a:ext cx="3091678" cy="1633301"/>
          </a:xfrm>
          <a:prstGeom prst="rect">
            <a:avLst/>
          </a:prstGeom>
        </p:spPr>
      </p:pic>
      <p:sp>
        <p:nvSpPr>
          <p:cNvPr id="3" name="Numéro de section"/>
          <p:cNvSpPr/>
          <p:nvPr/>
        </p:nvSpPr>
        <p:spPr>
          <a:xfrm>
            <a:off x="291694" y="0"/>
            <a:ext cx="247894" cy="379202"/>
          </a:xfrm>
          <a:prstGeom prst="rect">
            <a:avLst/>
          </a:prstGeom>
          <a:solidFill>
            <a:srgbClr val="3DAE7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91694" y="175016"/>
            <a:ext cx="247894" cy="18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Libellé section"/>
          <p:cNvSpPr txBox="1"/>
          <p:nvPr/>
        </p:nvSpPr>
        <p:spPr>
          <a:xfrm>
            <a:off x="736458" y="175016"/>
            <a:ext cx="4375038" cy="20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6" name="Titre"/>
          <p:cNvSpPr txBox="1"/>
          <p:nvPr/>
        </p:nvSpPr>
        <p:spPr>
          <a:xfrm>
            <a:off x="291694" y="452079"/>
            <a:ext cx="8385414" cy="597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existe-t-il ?</a:t>
            </a:r>
            <a:endParaRPr lang="en-US" sz="4200" dirty="0"/>
          </a:p>
        </p:txBody>
      </p:sp>
      <p:sp>
        <p:nvSpPr>
          <p:cNvPr id="7" name="Sous-titre"/>
          <p:cNvSpPr txBox="1"/>
          <p:nvPr/>
        </p:nvSpPr>
        <p:spPr>
          <a:xfrm>
            <a:off x="306233" y="1035375"/>
            <a:ext cx="7000006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F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actuel repose sur une analyse manuelle des dossiers clients pour la recertification des clients particuliers LR.</a:t>
            </a:r>
            <a:endParaRPr lang="en-US" sz="1700" dirty="0"/>
          </a:p>
        </p:txBody>
      </p:sp>
      <p:pic>
        <p:nvPicPr>
          <p:cNvPr id="8" name="Logo BNP Paribas" descr="Logo BNP Parib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909" y="116677"/>
            <a:ext cx="422910" cy="422910"/>
          </a:xfrm>
          <a:prstGeom prst="rect">
            <a:avLst/>
          </a:prstGeom>
        </p:spPr>
      </p:pic>
      <p:sp>
        <p:nvSpPr>
          <p:cNvPr id="9" name="Logo texte"/>
          <p:cNvSpPr txBox="1"/>
          <p:nvPr/>
        </p:nvSpPr>
        <p:spPr>
          <a:xfrm>
            <a:off x="8057327" y="131216"/>
            <a:ext cx="2187519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700" dirty="0"/>
          </a:p>
        </p:txBody>
      </p:sp>
      <p:sp>
        <p:nvSpPr>
          <p:cNvPr id="10" name="Signature"/>
          <p:cNvSpPr txBox="1"/>
          <p:nvPr/>
        </p:nvSpPr>
        <p:spPr>
          <a:xfrm>
            <a:off x="8057327" y="342717"/>
            <a:ext cx="2187519" cy="13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1" name="Processus actuel"/>
          <p:cNvSpPr/>
          <p:nvPr/>
        </p:nvSpPr>
        <p:spPr>
          <a:xfrm>
            <a:off x="277063" y="1633301"/>
            <a:ext cx="11644793" cy="1997964"/>
          </a:xfrm>
          <a:prstGeom prst="roundRect">
            <a:avLst>
              <a:gd name="adj" fmla="val 2746"/>
            </a:avLst>
          </a:prstGeom>
          <a:solidFill>
            <a:srgbClr val="F3F8F6"/>
          </a:solidFill>
          <a:ln/>
        </p:spPr>
      </p:sp>
      <p:sp>
        <p:nvSpPr>
          <p:cNvPr id="12" name="Shape 8"/>
          <p:cNvSpPr/>
          <p:nvPr/>
        </p:nvSpPr>
        <p:spPr>
          <a:xfrm>
            <a:off x="430225" y="1655247"/>
            <a:ext cx="379202" cy="379202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3" name="Icone 7 - engrenages" descr="engrenag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3" y="1728125"/>
            <a:ext cx="233355" cy="23335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5182" y="1728125"/>
            <a:ext cx="4375038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ACTUEL (MANUEL)</a:t>
            </a:r>
            <a:endParaRPr lang="en-US" sz="1700" dirty="0"/>
          </a:p>
        </p:txBody>
      </p:sp>
      <p:sp>
        <p:nvSpPr>
          <p:cNvPr id="15" name="Étape 1"/>
          <p:cNvSpPr/>
          <p:nvPr/>
        </p:nvSpPr>
        <p:spPr>
          <a:xfrm>
            <a:off x="350032" y="2063526"/>
            <a:ext cx="1414577" cy="1509400"/>
          </a:xfrm>
          <a:prstGeom prst="roundRect">
            <a:avLst>
              <a:gd name="adj" fmla="val 6464"/>
            </a:avLst>
          </a:prstGeom>
          <a:solidFill>
            <a:srgbClr val="FAFCFB"/>
          </a:solidFill>
          <a:ln/>
        </p:spPr>
      </p:sp>
      <p:sp>
        <p:nvSpPr>
          <p:cNvPr id="16" name="Shape 11"/>
          <p:cNvSpPr/>
          <p:nvPr/>
        </p:nvSpPr>
        <p:spPr>
          <a:xfrm>
            <a:off x="809335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7" name="Icone 8 - étape 1" descr="étape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74" y="2224004"/>
            <a:ext cx="291694" cy="29169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3741" y="2654137"/>
            <a:ext cx="1327069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client dans le répertoire ou autre entrepôt de données</a:t>
            </a:r>
            <a:endParaRPr lang="en-US" sz="1300" dirty="0"/>
          </a:p>
        </p:txBody>
      </p:sp>
      <p:pic>
        <p:nvPicPr>
          <p:cNvPr id="19" name="Icone 9 - flèche" descr="flèch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125" y="2654137"/>
            <a:ext cx="204186" cy="204186"/>
          </a:xfrm>
          <a:prstGeom prst="rect">
            <a:avLst/>
          </a:prstGeom>
        </p:spPr>
      </p:pic>
      <p:sp>
        <p:nvSpPr>
          <p:cNvPr id="20" name="Étape 2"/>
          <p:cNvSpPr/>
          <p:nvPr/>
        </p:nvSpPr>
        <p:spPr>
          <a:xfrm>
            <a:off x="1895826" y="2063526"/>
            <a:ext cx="1604132" cy="1509400"/>
          </a:xfrm>
          <a:prstGeom prst="roundRect">
            <a:avLst>
              <a:gd name="adj" fmla="val 6058"/>
            </a:avLst>
          </a:prstGeom>
          <a:solidFill>
            <a:srgbClr val="FAFCFB"/>
          </a:solidFill>
          <a:ln/>
        </p:spPr>
      </p:sp>
      <p:sp>
        <p:nvSpPr>
          <p:cNvPr id="21" name="Shape 14"/>
          <p:cNvSpPr/>
          <p:nvPr/>
        </p:nvSpPr>
        <p:spPr>
          <a:xfrm>
            <a:off x="2450043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22" name="Icone 10 - étape 2" descr="étape 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2090" y="2224004"/>
            <a:ext cx="291694" cy="29169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939625" y="2654137"/>
            <a:ext cx="1516715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des fichiers requis</a:t>
            </a:r>
            <a:pPr algn="ctr" indent="0" marL="0">
              <a:lnSpc>
                <a:spcPct val="10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(Justificatif d’identité, justificatif de résidence, fiche FATCA, CA10, convention de compte)</a:t>
            </a:r>
            <a:endParaRPr lang="en-US" sz="1300" dirty="0"/>
          </a:p>
        </p:txBody>
      </p:sp>
      <p:pic>
        <p:nvPicPr>
          <p:cNvPr id="24" name="Icone 11 - flèche" descr="flèch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0880" y="2654137"/>
            <a:ext cx="204186" cy="204186"/>
          </a:xfrm>
          <a:prstGeom prst="rect">
            <a:avLst/>
          </a:prstGeom>
        </p:spPr>
      </p:pic>
      <p:sp>
        <p:nvSpPr>
          <p:cNvPr id="25" name="Étape 3"/>
          <p:cNvSpPr/>
          <p:nvPr/>
        </p:nvSpPr>
        <p:spPr>
          <a:xfrm>
            <a:off x="3645804" y="2063526"/>
            <a:ext cx="1042690" cy="1509400"/>
          </a:xfrm>
          <a:prstGeom prst="roundRect">
            <a:avLst>
              <a:gd name="adj" fmla="val 8770"/>
            </a:avLst>
          </a:prstGeom>
          <a:solidFill>
            <a:srgbClr val="FAFCFB"/>
          </a:solidFill>
          <a:ln/>
        </p:spPr>
      </p:sp>
      <p:sp>
        <p:nvSpPr>
          <p:cNvPr id="26" name="Shape 17"/>
          <p:cNvSpPr/>
          <p:nvPr/>
        </p:nvSpPr>
        <p:spPr>
          <a:xfrm>
            <a:off x="3919301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27" name="Icone 12 - étape 3" descr="étape 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1348" y="2224004"/>
            <a:ext cx="291694" cy="29169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3689604" y="2654137"/>
            <a:ext cx="955182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documents</a:t>
            </a:r>
            <a:endParaRPr lang="en-US" sz="1300" dirty="0"/>
          </a:p>
        </p:txBody>
      </p:sp>
      <p:pic>
        <p:nvPicPr>
          <p:cNvPr id="29" name="Icone 13 - flèche" descr="flèch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417" y="2654137"/>
            <a:ext cx="204186" cy="204186"/>
          </a:xfrm>
          <a:prstGeom prst="rect">
            <a:avLst/>
          </a:prstGeom>
        </p:spPr>
      </p:pic>
      <p:sp>
        <p:nvSpPr>
          <p:cNvPr id="30" name="Étape 4"/>
          <p:cNvSpPr/>
          <p:nvPr/>
        </p:nvSpPr>
        <p:spPr>
          <a:xfrm>
            <a:off x="4834341" y="2063526"/>
            <a:ext cx="1181222" cy="1509400"/>
          </a:xfrm>
          <a:prstGeom prst="roundRect">
            <a:avLst>
              <a:gd name="adj" fmla="val 7741"/>
            </a:avLst>
          </a:prstGeom>
          <a:solidFill>
            <a:srgbClr val="FAFCFB"/>
          </a:solidFill>
          <a:ln/>
        </p:spPr>
      </p:sp>
      <p:sp>
        <p:nvSpPr>
          <p:cNvPr id="31" name="Shape 20"/>
          <p:cNvSpPr/>
          <p:nvPr/>
        </p:nvSpPr>
        <p:spPr>
          <a:xfrm>
            <a:off x="5177058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32" name="Icone 14 - étape 4" descr="étape 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9197" y="2224004"/>
            <a:ext cx="291694" cy="29169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878141" y="2654137"/>
            <a:ext cx="1093714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des informations nécessaires à la recertification</a:t>
            </a:r>
            <a:endParaRPr lang="en-US" sz="1300" dirty="0"/>
          </a:p>
        </p:txBody>
      </p:sp>
      <p:pic>
        <p:nvPicPr>
          <p:cNvPr id="34" name="Icone 15 - flèche" descr="flèch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6485" y="2654137"/>
            <a:ext cx="204186" cy="204186"/>
          </a:xfrm>
          <a:prstGeom prst="rect">
            <a:avLst/>
          </a:prstGeom>
        </p:spPr>
      </p:pic>
      <p:sp>
        <p:nvSpPr>
          <p:cNvPr id="35" name="Étape 5"/>
          <p:cNvSpPr/>
          <p:nvPr/>
        </p:nvSpPr>
        <p:spPr>
          <a:xfrm>
            <a:off x="6161502" y="2063526"/>
            <a:ext cx="1538569" cy="1509400"/>
          </a:xfrm>
          <a:prstGeom prst="roundRect">
            <a:avLst>
              <a:gd name="adj" fmla="val 6058"/>
            </a:avLst>
          </a:prstGeom>
          <a:solidFill>
            <a:srgbClr val="FAFCFB"/>
          </a:solidFill>
          <a:ln/>
        </p:spPr>
      </p:sp>
      <p:sp>
        <p:nvSpPr>
          <p:cNvPr id="36" name="Shape 23"/>
          <p:cNvSpPr/>
          <p:nvPr/>
        </p:nvSpPr>
        <p:spPr>
          <a:xfrm>
            <a:off x="6682801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37" name="Icone 16 - étape 5" descr="étape 5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4939" y="2224004"/>
            <a:ext cx="291694" cy="291694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6205210" y="2654137"/>
            <a:ext cx="1451061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 critères d’éligibilité à la recertification</a:t>
            </a:r>
            <a:pPr algn="ctr" indent="0" marL="0">
              <a:lnSpc>
                <a:spcPct val="10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(ex. : justificatif d’identité non biométrique….)</a:t>
            </a:r>
            <a:endParaRPr lang="en-US" sz="1300" dirty="0"/>
          </a:p>
        </p:txBody>
      </p:sp>
      <p:pic>
        <p:nvPicPr>
          <p:cNvPr id="39" name="Icone 17 - flèche" descr="flèch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0810" y="2654137"/>
            <a:ext cx="204186" cy="204186"/>
          </a:xfrm>
          <a:prstGeom prst="rect">
            <a:avLst/>
          </a:prstGeom>
        </p:spPr>
      </p:pic>
      <p:sp>
        <p:nvSpPr>
          <p:cNvPr id="40" name="Étape 6"/>
          <p:cNvSpPr/>
          <p:nvPr/>
        </p:nvSpPr>
        <p:spPr>
          <a:xfrm>
            <a:off x="7845826" y="2063526"/>
            <a:ext cx="1195852" cy="1509400"/>
          </a:xfrm>
          <a:prstGeom prst="roundRect">
            <a:avLst>
              <a:gd name="adj" fmla="val 7646"/>
            </a:avLst>
          </a:prstGeom>
          <a:solidFill>
            <a:srgbClr val="FAFCFB"/>
          </a:solidFill>
          <a:ln/>
        </p:spPr>
      </p:sp>
      <p:sp>
        <p:nvSpPr>
          <p:cNvPr id="41" name="Shape 26"/>
          <p:cNvSpPr/>
          <p:nvPr/>
        </p:nvSpPr>
        <p:spPr>
          <a:xfrm>
            <a:off x="8195859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42" name="Icone 18 - étape 6" descr="étape 6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7906" y="2224004"/>
            <a:ext cx="291694" cy="291694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7889626" y="2654137"/>
            <a:ext cx="1108344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approfondie des champs</a:t>
            </a:r>
            <a:endParaRPr lang="en-US" sz="1300" dirty="0"/>
          </a:p>
        </p:txBody>
      </p:sp>
      <p:pic>
        <p:nvPicPr>
          <p:cNvPr id="44" name="Icone 19 - flèche" descr="flèch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2509" y="2654137"/>
            <a:ext cx="204186" cy="204186"/>
          </a:xfrm>
          <a:prstGeom prst="rect">
            <a:avLst/>
          </a:prstGeom>
        </p:spPr>
      </p:pic>
      <p:sp>
        <p:nvSpPr>
          <p:cNvPr id="45" name="Étape 7"/>
          <p:cNvSpPr/>
          <p:nvPr/>
        </p:nvSpPr>
        <p:spPr>
          <a:xfrm>
            <a:off x="9187525" y="2063526"/>
            <a:ext cx="1334384" cy="1509400"/>
          </a:xfrm>
          <a:prstGeom prst="roundRect">
            <a:avLst>
              <a:gd name="adj" fmla="val 6853"/>
            </a:avLst>
          </a:prstGeom>
          <a:solidFill>
            <a:srgbClr val="FAFCFB"/>
          </a:solidFill>
          <a:ln/>
        </p:spPr>
      </p:sp>
      <p:sp>
        <p:nvSpPr>
          <p:cNvPr id="46" name="Shape 29"/>
          <p:cNvSpPr/>
          <p:nvPr/>
        </p:nvSpPr>
        <p:spPr>
          <a:xfrm>
            <a:off x="9606778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47" name="Icone 20 - étape 7" descr="étape 7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08916" y="2224004"/>
            <a:ext cx="291694" cy="291694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9231234" y="2654137"/>
            <a:ext cx="1246876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avec la base ATLAS champ par champ</a:t>
            </a:r>
            <a:endParaRPr lang="en-US" sz="1300" dirty="0"/>
          </a:p>
        </p:txBody>
      </p:sp>
      <p:pic>
        <p:nvPicPr>
          <p:cNvPr id="49" name="Icone 21 - flèche" descr="flèch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92740" y="2654137"/>
            <a:ext cx="204186" cy="204186"/>
          </a:xfrm>
          <a:prstGeom prst="rect">
            <a:avLst/>
          </a:prstGeom>
        </p:spPr>
      </p:pic>
      <p:sp>
        <p:nvSpPr>
          <p:cNvPr id="50" name="Étape 8"/>
          <p:cNvSpPr/>
          <p:nvPr/>
        </p:nvSpPr>
        <p:spPr>
          <a:xfrm>
            <a:off x="10667756" y="2063526"/>
            <a:ext cx="1203168" cy="1509400"/>
          </a:xfrm>
          <a:prstGeom prst="roundRect">
            <a:avLst>
              <a:gd name="adj" fmla="val 7600"/>
            </a:avLst>
          </a:prstGeom>
          <a:solidFill>
            <a:srgbClr val="FAFCFB"/>
          </a:solidFill>
          <a:ln/>
        </p:spPr>
      </p:sp>
      <p:sp>
        <p:nvSpPr>
          <p:cNvPr id="51" name="Shape 32"/>
          <p:cNvSpPr/>
          <p:nvPr/>
        </p:nvSpPr>
        <p:spPr>
          <a:xfrm>
            <a:off x="11021355" y="2121865"/>
            <a:ext cx="495879" cy="495879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52" name="Icone 22 - étape 8" descr="étape 8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23493" y="2224004"/>
            <a:ext cx="291694" cy="291694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10711464" y="2654137"/>
            <a:ext cx="1115659" cy="874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décision</a:t>
            </a:r>
            <a:endParaRPr lang="en-US" sz="1300" dirty="0"/>
          </a:p>
        </p:txBody>
      </p:sp>
      <p:sp>
        <p:nvSpPr>
          <p:cNvPr id="54" name="Principales difficultés"/>
          <p:cNvSpPr/>
          <p:nvPr/>
        </p:nvSpPr>
        <p:spPr>
          <a:xfrm>
            <a:off x="291694" y="3718773"/>
            <a:ext cx="6154186" cy="2172889"/>
          </a:xfrm>
          <a:prstGeom prst="roundRect">
            <a:avLst>
              <a:gd name="adj" fmla="val 2525"/>
            </a:avLst>
          </a:prstGeom>
          <a:solidFill>
            <a:srgbClr val="F7F8F9"/>
          </a:solidFill>
          <a:ln/>
        </p:spPr>
      </p:sp>
      <p:sp>
        <p:nvSpPr>
          <p:cNvPr id="55" name="Shape 35"/>
          <p:cNvSpPr/>
          <p:nvPr/>
        </p:nvSpPr>
        <p:spPr>
          <a:xfrm>
            <a:off x="452079" y="3747943"/>
            <a:ext cx="379202" cy="379202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56" name="Shape 36"/>
          <p:cNvSpPr/>
          <p:nvPr/>
        </p:nvSpPr>
        <p:spPr>
          <a:xfrm>
            <a:off x="510418" y="3806281"/>
            <a:ext cx="262524" cy="262524"/>
          </a:xfrm>
          <a:prstGeom prst="ellipse">
            <a:avLst/>
          </a:prstGeom>
          <a:solidFill>
            <a:srgbClr val="0E8A52"/>
          </a:solidFill>
          <a:ln/>
        </p:spPr>
      </p:sp>
      <p:sp>
        <p:nvSpPr>
          <p:cNvPr id="57" name="Text 37"/>
          <p:cNvSpPr txBox="1"/>
          <p:nvPr/>
        </p:nvSpPr>
        <p:spPr>
          <a:xfrm>
            <a:off x="510418" y="3806281"/>
            <a:ext cx="262524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8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82" dirty="0"/>
          </a:p>
        </p:txBody>
      </p:sp>
      <p:sp>
        <p:nvSpPr>
          <p:cNvPr id="58" name="Text 38"/>
          <p:cNvSpPr txBox="1"/>
          <p:nvPr/>
        </p:nvSpPr>
        <p:spPr>
          <a:xfrm>
            <a:off x="1006297" y="3806281"/>
            <a:ext cx="4375038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difficultés</a:t>
            </a:r>
            <a:endParaRPr lang="en-US" sz="1900" dirty="0"/>
          </a:p>
        </p:txBody>
      </p:sp>
      <p:sp>
        <p:nvSpPr>
          <p:cNvPr id="59" name="Shape 39"/>
          <p:cNvSpPr/>
          <p:nvPr/>
        </p:nvSpPr>
        <p:spPr>
          <a:xfrm>
            <a:off x="422910" y="4163538"/>
            <a:ext cx="5891662" cy="1647932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/>
        </p:spPr>
      </p:sp>
      <p:sp>
        <p:nvSpPr>
          <p:cNvPr id="60" name="Shape 40"/>
          <p:cNvSpPr/>
          <p:nvPr/>
        </p:nvSpPr>
        <p:spPr>
          <a:xfrm>
            <a:off x="612465" y="4178168"/>
            <a:ext cx="291694" cy="291694"/>
          </a:xfrm>
          <a:prstGeom prst="ellipse">
            <a:avLst/>
          </a:prstGeom>
          <a:solidFill>
            <a:srgbClr val="EEF6F2"/>
          </a:solidFill>
          <a:ln/>
        </p:spPr>
      </p:sp>
      <p:pic>
        <p:nvPicPr>
          <p:cNvPr id="61" name="Icone 23 - Temps important" descr="Temps important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3580" y="4229191"/>
            <a:ext cx="189555" cy="189555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1203168" y="4207337"/>
            <a:ext cx="5031303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important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consacré à la lecture et à l’analyse manuelle</a:t>
            </a:r>
            <a:endParaRPr lang="en-US" sz="1350" dirty="0"/>
          </a:p>
        </p:txBody>
      </p:sp>
      <p:sp>
        <p:nvSpPr>
          <p:cNvPr id="63" name="Shape 42"/>
          <p:cNvSpPr/>
          <p:nvPr/>
        </p:nvSpPr>
        <p:spPr>
          <a:xfrm>
            <a:off x="1130198" y="4488058"/>
            <a:ext cx="5104181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64" name="Shape 43"/>
          <p:cNvSpPr/>
          <p:nvPr/>
        </p:nvSpPr>
        <p:spPr>
          <a:xfrm>
            <a:off x="612465" y="4509912"/>
            <a:ext cx="291694" cy="291694"/>
          </a:xfrm>
          <a:prstGeom prst="ellipse">
            <a:avLst/>
          </a:prstGeom>
          <a:solidFill>
            <a:srgbClr val="EEF6F2"/>
          </a:solidFill>
          <a:ln/>
        </p:spPr>
      </p:sp>
      <p:pic>
        <p:nvPicPr>
          <p:cNvPr id="65" name="Icone 24 - Volumes de dossiers élevés" descr="Volumes de dossiers élevés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580" y="4560936"/>
            <a:ext cx="189555" cy="189555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1203168" y="4539082"/>
            <a:ext cx="5031303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dossiers élevés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traiter</a:t>
            </a:r>
            <a:endParaRPr lang="en-US" sz="1350" dirty="0"/>
          </a:p>
        </p:txBody>
      </p:sp>
      <p:sp>
        <p:nvSpPr>
          <p:cNvPr id="67" name="Shape 45"/>
          <p:cNvSpPr/>
          <p:nvPr/>
        </p:nvSpPr>
        <p:spPr>
          <a:xfrm>
            <a:off x="1130198" y="4819802"/>
            <a:ext cx="5104181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68" name="Shape 46"/>
          <p:cNvSpPr/>
          <p:nvPr/>
        </p:nvSpPr>
        <p:spPr>
          <a:xfrm>
            <a:off x="612465" y="4841657"/>
            <a:ext cx="291694" cy="291694"/>
          </a:xfrm>
          <a:prstGeom prst="ellipse">
            <a:avLst/>
          </a:prstGeom>
          <a:solidFill>
            <a:srgbClr val="EEF6F2"/>
          </a:solidFill>
          <a:ln/>
        </p:spPr>
      </p:sp>
      <p:pic>
        <p:nvPicPr>
          <p:cNvPr id="69" name="Icone 25 - Documents de qualité variable" descr="Documents de qualité variable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3580" y="4892680"/>
            <a:ext cx="189555" cy="189555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1203168" y="4870826"/>
            <a:ext cx="5031303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de qualité variable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parfois incomplets ou en doublon</a:t>
            </a:r>
            <a:endParaRPr lang="en-US" sz="1350" dirty="0"/>
          </a:p>
        </p:txBody>
      </p:sp>
      <p:sp>
        <p:nvSpPr>
          <p:cNvPr id="71" name="Shape 48"/>
          <p:cNvSpPr/>
          <p:nvPr/>
        </p:nvSpPr>
        <p:spPr>
          <a:xfrm>
            <a:off x="1130198" y="5151547"/>
            <a:ext cx="5104181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72" name="Shape 49"/>
          <p:cNvSpPr/>
          <p:nvPr/>
        </p:nvSpPr>
        <p:spPr>
          <a:xfrm>
            <a:off x="612465" y="5173492"/>
            <a:ext cx="291694" cy="291694"/>
          </a:xfrm>
          <a:prstGeom prst="ellipse">
            <a:avLst/>
          </a:prstGeom>
          <a:solidFill>
            <a:srgbClr val="EEF6F2"/>
          </a:solidFill>
          <a:ln/>
        </p:spPr>
      </p:sp>
      <p:pic>
        <p:nvPicPr>
          <p:cNvPr id="73" name="Icone 26 - Risque d’erreur" descr="Risque d’erreur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3580" y="5224516"/>
            <a:ext cx="189555" cy="189555"/>
          </a:xfrm>
          <a:prstGeom prst="rect">
            <a:avLst/>
          </a:prstGeom>
        </p:spPr>
      </p:pic>
      <p:sp>
        <p:nvSpPr>
          <p:cNvPr id="74" name="Text 50"/>
          <p:cNvSpPr txBox="1"/>
          <p:nvPr/>
        </p:nvSpPr>
        <p:spPr>
          <a:xfrm>
            <a:off x="1203168" y="5202662"/>
            <a:ext cx="5031303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d’erreur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lecture ou de saisie</a:t>
            </a:r>
            <a:endParaRPr lang="en-US" sz="1350" dirty="0"/>
          </a:p>
        </p:txBody>
      </p:sp>
      <p:sp>
        <p:nvSpPr>
          <p:cNvPr id="75" name="Shape 51"/>
          <p:cNvSpPr/>
          <p:nvPr/>
        </p:nvSpPr>
        <p:spPr>
          <a:xfrm>
            <a:off x="1130198" y="5483382"/>
            <a:ext cx="5104181" cy="0"/>
          </a:xfrm>
          <a:prstGeom prst="line">
            <a:avLst/>
          </a:prstGeom>
          <a:noFill/>
          <a:ln w="9525">
            <a:solidFill>
              <a:srgbClr val="E3E6E8"/>
            </a:solidFill>
            <a:prstDash val="solid"/>
          </a:ln>
        </p:spPr>
      </p:sp>
      <p:sp>
        <p:nvSpPr>
          <p:cNvPr id="76" name="Shape 52"/>
          <p:cNvSpPr/>
          <p:nvPr/>
        </p:nvSpPr>
        <p:spPr>
          <a:xfrm>
            <a:off x="612465" y="5505237"/>
            <a:ext cx="291694" cy="291694"/>
          </a:xfrm>
          <a:prstGeom prst="ellipse">
            <a:avLst/>
          </a:prstGeom>
          <a:solidFill>
            <a:srgbClr val="EEF6F2"/>
          </a:solidFill>
          <a:ln/>
        </p:spPr>
      </p:sp>
      <p:pic>
        <p:nvPicPr>
          <p:cNvPr id="77" name="Icone 27 - Tâches répétitives" descr="Tâches répétitives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3580" y="5556260"/>
            <a:ext cx="189555" cy="189555"/>
          </a:xfrm>
          <a:prstGeom prst="rect">
            <a:avLst/>
          </a:prstGeom>
        </p:spPr>
      </p:pic>
      <p:sp>
        <p:nvSpPr>
          <p:cNvPr id="78" name="Text 53"/>
          <p:cNvSpPr txBox="1"/>
          <p:nvPr/>
        </p:nvSpPr>
        <p:spPr>
          <a:xfrm>
            <a:off x="1203168" y="5534406"/>
            <a:ext cx="5031303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répétitives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faible valeur ajoutée</a:t>
            </a:r>
            <a:endParaRPr lang="en-US" sz="1350" dirty="0"/>
          </a:p>
        </p:txBody>
      </p:sp>
      <p:sp>
        <p:nvSpPr>
          <p:cNvPr id="79" name="Recertifications prévues"/>
          <p:cNvSpPr/>
          <p:nvPr/>
        </p:nvSpPr>
        <p:spPr>
          <a:xfrm>
            <a:off x="6577096" y="3718773"/>
            <a:ext cx="5337536" cy="2172889"/>
          </a:xfrm>
          <a:prstGeom prst="roundRect">
            <a:avLst>
              <a:gd name="adj" fmla="val 2525"/>
            </a:avLst>
          </a:prstGeom>
          <a:solidFill>
            <a:srgbClr val="F7F8F9"/>
          </a:solidFill>
          <a:ln/>
        </p:spPr>
      </p:sp>
      <p:sp>
        <p:nvSpPr>
          <p:cNvPr id="80" name="Shape 55"/>
          <p:cNvSpPr/>
          <p:nvPr/>
        </p:nvSpPr>
        <p:spPr>
          <a:xfrm>
            <a:off x="6722943" y="3747943"/>
            <a:ext cx="379202" cy="379202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81" name="Icone 28 - graphique" descr="graphiqu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03136" y="3828136"/>
            <a:ext cx="218724" cy="218724"/>
          </a:xfrm>
          <a:prstGeom prst="rect">
            <a:avLst/>
          </a:prstGeom>
        </p:spPr>
      </p:pic>
      <p:sp>
        <p:nvSpPr>
          <p:cNvPr id="82" name="Text 56"/>
          <p:cNvSpPr txBox="1"/>
          <p:nvPr/>
        </p:nvSpPr>
        <p:spPr>
          <a:xfrm>
            <a:off x="7255215" y="3806281"/>
            <a:ext cx="4375038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Recertifications prévues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15628" y="4170853"/>
          <a:ext cx="5045842" cy="914400"/>
        </p:xfrm>
        <a:graphic>
          <a:graphicData uri="http://schemas.openxmlformats.org/drawingml/2006/table">
            <a:tbl>
              <a:tblPr/>
              <a:tblGrid>
                <a:gridCol w="2435413"/>
                <a:gridCol w="2610429"/>
              </a:tblGrid>
              <a:tr h="2478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recertifications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</a:tr>
              <a:tr h="2370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0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</a:tr>
              <a:tr h="2370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370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</a:tr>
              <a:tr h="2370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84" name="Text 57"/>
          <p:cNvSpPr txBox="1"/>
          <p:nvPr/>
        </p:nvSpPr>
        <p:spPr>
          <a:xfrm>
            <a:off x="6715628" y="5672938"/>
            <a:ext cx="5031303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récapitulatif sans intégration des critères d’éligibilité.</a:t>
            </a:r>
            <a:endParaRPr lang="en-US" sz="1000" dirty="0"/>
          </a:p>
        </p:txBody>
      </p:sp>
      <p:sp>
        <p:nvSpPr>
          <p:cNvPr id="85" name="Shape 58"/>
          <p:cNvSpPr/>
          <p:nvPr/>
        </p:nvSpPr>
        <p:spPr>
          <a:xfrm>
            <a:off x="277063" y="5964631"/>
            <a:ext cx="11644793" cy="539587"/>
          </a:xfrm>
          <a:prstGeom prst="roundRect">
            <a:avLst>
              <a:gd name="adj" fmla="val 16946"/>
            </a:avLst>
          </a:prstGeom>
          <a:solidFill>
            <a:srgbClr val="F0F8F4"/>
          </a:solidFill>
          <a:ln/>
        </p:spPr>
      </p:sp>
      <p:sp>
        <p:nvSpPr>
          <p:cNvPr id="86" name="Shape 59"/>
          <p:cNvSpPr/>
          <p:nvPr/>
        </p:nvSpPr>
        <p:spPr>
          <a:xfrm>
            <a:off x="277063" y="5964631"/>
            <a:ext cx="36485" cy="539587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87" name="Shape 60"/>
          <p:cNvSpPr/>
          <p:nvPr/>
        </p:nvSpPr>
        <p:spPr>
          <a:xfrm>
            <a:off x="532272" y="6015655"/>
            <a:ext cx="437540" cy="437540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88" name="Icone 29 - graphique" descr="graphique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9780" y="6103163"/>
            <a:ext cx="262524" cy="262524"/>
          </a:xfrm>
          <a:prstGeom prst="rect">
            <a:avLst/>
          </a:prstGeom>
        </p:spPr>
      </p:pic>
      <p:sp>
        <p:nvSpPr>
          <p:cNvPr id="89" name="Text 61"/>
          <p:cNvSpPr txBox="1"/>
          <p:nvPr/>
        </p:nvSpPr>
        <p:spPr>
          <a:xfrm>
            <a:off x="1166683" y="6008340"/>
            <a:ext cx="10572933" cy="452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aujourd’hui fortement manuel, exigeant en temps de traitement, en vigilance opérationnelle et en contrôle de la qualité des données.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Photo d’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632" y="0"/>
            <a:ext cx="3252064" cy="1808317"/>
          </a:xfrm>
          <a:prstGeom prst="rect">
            <a:avLst/>
          </a:prstGeom>
        </p:spPr>
      </p:pic>
      <p:sp>
        <p:nvSpPr>
          <p:cNvPr id="3" name="Numéro de section"/>
          <p:cNvSpPr/>
          <p:nvPr/>
        </p:nvSpPr>
        <p:spPr>
          <a:xfrm>
            <a:off x="291694" y="0"/>
            <a:ext cx="247894" cy="379202"/>
          </a:xfrm>
          <a:prstGeom prst="rect">
            <a:avLst/>
          </a:prstGeom>
          <a:solidFill>
            <a:srgbClr val="3DAE7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91694" y="175016"/>
            <a:ext cx="247894" cy="18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Libellé section"/>
          <p:cNvSpPr txBox="1"/>
          <p:nvPr/>
        </p:nvSpPr>
        <p:spPr>
          <a:xfrm>
            <a:off x="736458" y="175016"/>
            <a:ext cx="4375038" cy="20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400" dirty="0"/>
          </a:p>
        </p:txBody>
      </p:sp>
      <p:sp>
        <p:nvSpPr>
          <p:cNvPr id="6" name="Titre"/>
          <p:cNvSpPr txBox="1"/>
          <p:nvPr/>
        </p:nvSpPr>
        <p:spPr>
          <a:xfrm>
            <a:off x="291694" y="452079"/>
            <a:ext cx="8385414" cy="597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Qu’est-ce qui change ?</a:t>
            </a:r>
            <a:endParaRPr lang="en-US" sz="4200" dirty="0"/>
          </a:p>
        </p:txBody>
      </p:sp>
      <p:sp>
        <p:nvSpPr>
          <p:cNvPr id="7" name="Sous-titre"/>
          <p:cNvSpPr txBox="1"/>
          <p:nvPr/>
        </p:nvSpPr>
        <p:spPr>
          <a:xfrm>
            <a:off x="306233" y="1079175"/>
            <a:ext cx="7874996" cy="481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F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cible automatise la lecture documentaire, structure les informations et oriente les cas incertains vers une vérification humaine.</a:t>
            </a:r>
            <a:endParaRPr lang="en-US" sz="1700" dirty="0"/>
          </a:p>
        </p:txBody>
      </p:sp>
      <p:pic>
        <p:nvPicPr>
          <p:cNvPr id="8" name="Logo BNP Paribas" descr="Logo BNP Parib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424" y="160386"/>
            <a:ext cx="452079" cy="452079"/>
          </a:xfrm>
          <a:prstGeom prst="rect">
            <a:avLst/>
          </a:prstGeom>
        </p:spPr>
      </p:pic>
      <p:sp>
        <p:nvSpPr>
          <p:cNvPr id="9" name="Logo texte"/>
          <p:cNvSpPr txBox="1"/>
          <p:nvPr/>
        </p:nvSpPr>
        <p:spPr>
          <a:xfrm>
            <a:off x="8050012" y="189555"/>
            <a:ext cx="2187519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700" dirty="0"/>
          </a:p>
        </p:txBody>
      </p:sp>
      <p:sp>
        <p:nvSpPr>
          <p:cNvPr id="10" name="Signature"/>
          <p:cNvSpPr txBox="1"/>
          <p:nvPr/>
        </p:nvSpPr>
        <p:spPr>
          <a:xfrm>
            <a:off x="8050012" y="401056"/>
            <a:ext cx="2187519" cy="13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1" name="Étape 1"/>
          <p:cNvSpPr/>
          <p:nvPr/>
        </p:nvSpPr>
        <p:spPr>
          <a:xfrm>
            <a:off x="240670" y="1822948"/>
            <a:ext cx="1050006" cy="1881287"/>
          </a:xfrm>
          <a:prstGeom prst="roundRect">
            <a:avLst>
              <a:gd name="adj" fmla="val 8709"/>
            </a:avLst>
          </a:prstGeom>
          <a:solidFill>
            <a:srgbClr val="F3FAF6"/>
          </a:solidFill>
          <a:ln/>
        </p:spPr>
      </p:sp>
      <p:sp>
        <p:nvSpPr>
          <p:cNvPr id="12" name="Shape 8"/>
          <p:cNvSpPr/>
          <p:nvPr/>
        </p:nvSpPr>
        <p:spPr>
          <a:xfrm>
            <a:off x="401056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13" name="Shape 9"/>
          <p:cNvSpPr/>
          <p:nvPr/>
        </p:nvSpPr>
        <p:spPr>
          <a:xfrm>
            <a:off x="393741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93741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pic>
        <p:nvPicPr>
          <p:cNvPr id="15" name="Icone 30 - document" descr="docu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3" y="2231227"/>
            <a:ext cx="437540" cy="4375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07288" y="2522921"/>
            <a:ext cx="277063" cy="145847"/>
          </a:xfrm>
          <a:prstGeom prst="roundRect">
            <a:avLst>
              <a:gd name="adj" fmla="val 125392"/>
            </a:avLst>
          </a:prstGeom>
          <a:solidFill>
            <a:srgbClr val="D82444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07288" y="2522921"/>
            <a:ext cx="277063" cy="145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277063" y="2902123"/>
            <a:ext cx="977128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:</a:t>
            </a:r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PDF / scannés</a:t>
            </a:r>
            <a:endParaRPr lang="en-US" sz="1250" dirty="0"/>
          </a:p>
        </p:txBody>
      </p:sp>
      <p:pic>
        <p:nvPicPr>
          <p:cNvPr id="19" name="Icone 31 - flèche" descr="flè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79" y="2785445"/>
            <a:ext cx="189555" cy="189555"/>
          </a:xfrm>
          <a:prstGeom prst="rect">
            <a:avLst/>
          </a:prstGeom>
        </p:spPr>
      </p:pic>
      <p:sp>
        <p:nvSpPr>
          <p:cNvPr id="20" name="Étape 2"/>
          <p:cNvSpPr/>
          <p:nvPr/>
        </p:nvSpPr>
        <p:spPr>
          <a:xfrm>
            <a:off x="1356238" y="1822948"/>
            <a:ext cx="1210391" cy="1881287"/>
          </a:xfrm>
          <a:prstGeom prst="roundRect">
            <a:avLst>
              <a:gd name="adj" fmla="val 7555"/>
            </a:avLst>
          </a:prstGeom>
          <a:solidFill>
            <a:srgbClr val="F3FAF6"/>
          </a:solidFill>
          <a:ln/>
        </p:spPr>
      </p:sp>
      <p:sp>
        <p:nvSpPr>
          <p:cNvPr id="21" name="Shape 15"/>
          <p:cNvSpPr/>
          <p:nvPr/>
        </p:nvSpPr>
        <p:spPr>
          <a:xfrm>
            <a:off x="1596908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22" name="Shape 16"/>
          <p:cNvSpPr/>
          <p:nvPr/>
        </p:nvSpPr>
        <p:spPr>
          <a:xfrm>
            <a:off x="1509400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509400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pic>
        <p:nvPicPr>
          <p:cNvPr id="24" name="Icone 32 - étape 2" descr="étape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294" y="2275027"/>
            <a:ext cx="408371" cy="40837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92723" y="2902123"/>
            <a:ext cx="1137514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globale de l’existence des fichiers nécessaires à la recertification</a:t>
            </a:r>
            <a:endParaRPr lang="en-US" sz="1250" dirty="0"/>
          </a:p>
        </p:txBody>
      </p:sp>
      <p:pic>
        <p:nvPicPr>
          <p:cNvPr id="26" name="Icone 33 - flèche" descr="flèch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067" y="2785445"/>
            <a:ext cx="189555" cy="189555"/>
          </a:xfrm>
          <a:prstGeom prst="rect">
            <a:avLst/>
          </a:prstGeom>
        </p:spPr>
      </p:pic>
      <p:sp>
        <p:nvSpPr>
          <p:cNvPr id="27" name="Étape 3"/>
          <p:cNvSpPr/>
          <p:nvPr/>
        </p:nvSpPr>
        <p:spPr>
          <a:xfrm>
            <a:off x="2624968" y="1822948"/>
            <a:ext cx="1195852" cy="1881287"/>
          </a:xfrm>
          <a:prstGeom prst="roundRect">
            <a:avLst>
              <a:gd name="adj" fmla="val 7646"/>
            </a:avLst>
          </a:prstGeom>
          <a:solidFill>
            <a:srgbClr val="F3FAF6"/>
          </a:solidFill>
          <a:ln/>
        </p:spPr>
      </p:sp>
      <p:sp>
        <p:nvSpPr>
          <p:cNvPr id="28" name="Shape 20"/>
          <p:cNvSpPr/>
          <p:nvPr/>
        </p:nvSpPr>
        <p:spPr>
          <a:xfrm>
            <a:off x="2858323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29" name="Shape 21"/>
          <p:cNvSpPr/>
          <p:nvPr/>
        </p:nvSpPr>
        <p:spPr>
          <a:xfrm>
            <a:off x="2778130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2778130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pic>
        <p:nvPicPr>
          <p:cNvPr id="31" name="Icone 34 - étape 3" descr="étape 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8800" y="2275027"/>
            <a:ext cx="408371" cy="40837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661453" y="2902123"/>
            <a:ext cx="1122883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fichiers dupliqués à lire (selon la différence de taille)</a:t>
            </a:r>
            <a:endParaRPr lang="en-US" sz="1250" dirty="0"/>
          </a:p>
        </p:txBody>
      </p:sp>
      <p:pic>
        <p:nvPicPr>
          <p:cNvPr id="33" name="Icone 35 - flèche" descr="flèch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5258" y="2785445"/>
            <a:ext cx="189555" cy="189555"/>
          </a:xfrm>
          <a:prstGeom prst="rect">
            <a:avLst/>
          </a:prstGeom>
        </p:spPr>
      </p:pic>
      <p:sp>
        <p:nvSpPr>
          <p:cNvPr id="34" name="Étape 4"/>
          <p:cNvSpPr/>
          <p:nvPr/>
        </p:nvSpPr>
        <p:spPr>
          <a:xfrm>
            <a:off x="3879159" y="1822948"/>
            <a:ext cx="998982" cy="1881287"/>
          </a:xfrm>
          <a:prstGeom prst="roundRect">
            <a:avLst>
              <a:gd name="adj" fmla="val 9153"/>
            </a:avLst>
          </a:prstGeom>
          <a:solidFill>
            <a:srgbClr val="F3FAF6"/>
          </a:solidFill>
          <a:ln/>
        </p:spPr>
      </p:sp>
      <p:sp>
        <p:nvSpPr>
          <p:cNvPr id="35" name="Shape 25"/>
          <p:cNvSpPr/>
          <p:nvPr/>
        </p:nvSpPr>
        <p:spPr>
          <a:xfrm>
            <a:off x="4014033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36" name="Shape 26"/>
          <p:cNvSpPr/>
          <p:nvPr/>
        </p:nvSpPr>
        <p:spPr>
          <a:xfrm>
            <a:off x="4032321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4032321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pic>
        <p:nvPicPr>
          <p:cNvPr id="38" name="Icone 36 - puce IA" descr="puce I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5148" y="2165665"/>
            <a:ext cx="627096" cy="6270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203680" y="2333366"/>
            <a:ext cx="35003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400" dirty="0"/>
          </a:p>
        </p:txBody>
      </p:sp>
      <p:sp>
        <p:nvSpPr>
          <p:cNvPr id="40" name="Text 29"/>
          <p:cNvSpPr txBox="1"/>
          <p:nvPr/>
        </p:nvSpPr>
        <p:spPr>
          <a:xfrm>
            <a:off x="3915644" y="2902123"/>
            <a:ext cx="926013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intelligente par IA</a:t>
            </a:r>
            <a:endParaRPr lang="en-US" sz="1250" dirty="0"/>
          </a:p>
        </p:txBody>
      </p:sp>
      <p:pic>
        <p:nvPicPr>
          <p:cNvPr id="41" name="Icone 37 - flèche" descr="flèch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6145" y="2785445"/>
            <a:ext cx="189555" cy="189555"/>
          </a:xfrm>
          <a:prstGeom prst="rect">
            <a:avLst/>
          </a:prstGeom>
        </p:spPr>
      </p:pic>
      <p:sp>
        <p:nvSpPr>
          <p:cNvPr id="42" name="Étape 5"/>
          <p:cNvSpPr/>
          <p:nvPr/>
        </p:nvSpPr>
        <p:spPr>
          <a:xfrm>
            <a:off x="4943795" y="1822948"/>
            <a:ext cx="1122883" cy="1881287"/>
          </a:xfrm>
          <a:prstGeom prst="roundRect">
            <a:avLst>
              <a:gd name="adj" fmla="val 8143"/>
            </a:avLst>
          </a:prstGeom>
          <a:solidFill>
            <a:srgbClr val="F3FAF6"/>
          </a:solidFill>
          <a:ln/>
        </p:spPr>
      </p:sp>
      <p:sp>
        <p:nvSpPr>
          <p:cNvPr id="43" name="Shape 31"/>
          <p:cNvSpPr/>
          <p:nvPr/>
        </p:nvSpPr>
        <p:spPr>
          <a:xfrm>
            <a:off x="5140665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44" name="Shape 32"/>
          <p:cNvSpPr/>
          <p:nvPr/>
        </p:nvSpPr>
        <p:spPr>
          <a:xfrm>
            <a:off x="5096866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45" name="Text 33"/>
          <p:cNvSpPr txBox="1"/>
          <p:nvPr/>
        </p:nvSpPr>
        <p:spPr>
          <a:xfrm>
            <a:off x="5096866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pic>
        <p:nvPicPr>
          <p:cNvPr id="46" name="Icone 38 - étape 5" descr="étape 5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1051" y="2275027"/>
            <a:ext cx="408371" cy="408371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980188" y="2902123"/>
            <a:ext cx="1050006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informations</a:t>
            </a:r>
            <a:endParaRPr lang="en-US" sz="1250" dirty="0"/>
          </a:p>
        </p:txBody>
      </p:sp>
      <p:pic>
        <p:nvPicPr>
          <p:cNvPr id="48" name="Icone 39 - flèche" descr="flèch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1024" y="2785445"/>
            <a:ext cx="189555" cy="189555"/>
          </a:xfrm>
          <a:prstGeom prst="rect">
            <a:avLst/>
          </a:prstGeom>
        </p:spPr>
      </p:pic>
      <p:sp>
        <p:nvSpPr>
          <p:cNvPr id="49" name="Étape 6"/>
          <p:cNvSpPr/>
          <p:nvPr/>
        </p:nvSpPr>
        <p:spPr>
          <a:xfrm>
            <a:off x="6125017" y="1822948"/>
            <a:ext cx="1122883" cy="1881287"/>
          </a:xfrm>
          <a:prstGeom prst="roundRect">
            <a:avLst>
              <a:gd name="adj" fmla="val 8143"/>
            </a:avLst>
          </a:prstGeom>
          <a:solidFill>
            <a:srgbClr val="F3FAF6"/>
          </a:solidFill>
          <a:ln/>
        </p:spPr>
      </p:sp>
      <p:sp>
        <p:nvSpPr>
          <p:cNvPr id="50" name="Shape 36"/>
          <p:cNvSpPr/>
          <p:nvPr/>
        </p:nvSpPr>
        <p:spPr>
          <a:xfrm>
            <a:off x="6321887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51" name="Shape 37"/>
          <p:cNvSpPr/>
          <p:nvPr/>
        </p:nvSpPr>
        <p:spPr>
          <a:xfrm>
            <a:off x="6278179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52" name="Text 38"/>
          <p:cNvSpPr txBox="1"/>
          <p:nvPr/>
        </p:nvSpPr>
        <p:spPr>
          <a:xfrm>
            <a:off x="6278179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pic>
        <p:nvPicPr>
          <p:cNvPr id="53" name="Icone 40 - étape 6" descr="étape 6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2273" y="2275027"/>
            <a:ext cx="408371" cy="408371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161502" y="2902123"/>
            <a:ext cx="1050006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</a:t>
            </a:r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qualité</a:t>
            </a:r>
            <a:endParaRPr lang="en-US" sz="1250" dirty="0"/>
          </a:p>
        </p:txBody>
      </p:sp>
      <p:pic>
        <p:nvPicPr>
          <p:cNvPr id="55" name="Icone 41 - flèche" descr="flèch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2338" y="2785445"/>
            <a:ext cx="189555" cy="189555"/>
          </a:xfrm>
          <a:prstGeom prst="rect">
            <a:avLst/>
          </a:prstGeom>
        </p:spPr>
      </p:pic>
      <p:sp>
        <p:nvSpPr>
          <p:cNvPr id="56" name="Étape 7"/>
          <p:cNvSpPr/>
          <p:nvPr/>
        </p:nvSpPr>
        <p:spPr>
          <a:xfrm>
            <a:off x="7306239" y="1822948"/>
            <a:ext cx="1101029" cy="1881287"/>
          </a:xfrm>
          <a:prstGeom prst="roundRect">
            <a:avLst>
              <a:gd name="adj" fmla="val 8305"/>
            </a:avLst>
          </a:prstGeom>
          <a:solidFill>
            <a:srgbClr val="F3FAF6"/>
          </a:solidFill>
          <a:ln/>
        </p:spPr>
      </p:sp>
      <p:sp>
        <p:nvSpPr>
          <p:cNvPr id="57" name="Shape 41"/>
          <p:cNvSpPr/>
          <p:nvPr/>
        </p:nvSpPr>
        <p:spPr>
          <a:xfrm>
            <a:off x="7492228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58" name="Shape 42"/>
          <p:cNvSpPr/>
          <p:nvPr/>
        </p:nvSpPr>
        <p:spPr>
          <a:xfrm>
            <a:off x="7459401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7459401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pic>
        <p:nvPicPr>
          <p:cNvPr id="60" name="Icone 42 - étape 7" descr="étape 7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2614" y="2275027"/>
            <a:ext cx="408371" cy="408371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7342723" y="2902123"/>
            <a:ext cx="1028151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structurées par fichier et par dossier</a:t>
            </a:r>
            <a:endParaRPr lang="en-US" sz="1250" dirty="0"/>
          </a:p>
        </p:txBody>
      </p:sp>
      <p:pic>
        <p:nvPicPr>
          <p:cNvPr id="62" name="Icone 43 - flèche" descr="flèch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0733" y="2785445"/>
            <a:ext cx="189555" cy="189555"/>
          </a:xfrm>
          <a:prstGeom prst="rect">
            <a:avLst/>
          </a:prstGeom>
        </p:spPr>
      </p:pic>
      <p:sp>
        <p:nvSpPr>
          <p:cNvPr id="63" name="Étape 8"/>
          <p:cNvSpPr/>
          <p:nvPr/>
        </p:nvSpPr>
        <p:spPr>
          <a:xfrm>
            <a:off x="8443752" y="1822948"/>
            <a:ext cx="1130198" cy="1881287"/>
          </a:xfrm>
          <a:prstGeom prst="roundRect">
            <a:avLst>
              <a:gd name="adj" fmla="val 8091"/>
            </a:avLst>
          </a:prstGeom>
          <a:solidFill>
            <a:srgbClr val="F3FAF6"/>
          </a:solidFill>
          <a:ln/>
        </p:spPr>
      </p:sp>
      <p:sp>
        <p:nvSpPr>
          <p:cNvPr id="64" name="Shape 46"/>
          <p:cNvSpPr/>
          <p:nvPr/>
        </p:nvSpPr>
        <p:spPr>
          <a:xfrm>
            <a:off x="8644280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65" name="Shape 47"/>
          <p:cNvSpPr/>
          <p:nvPr/>
        </p:nvSpPr>
        <p:spPr>
          <a:xfrm>
            <a:off x="8596914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66" name="Text 48"/>
          <p:cNvSpPr txBox="1"/>
          <p:nvPr/>
        </p:nvSpPr>
        <p:spPr>
          <a:xfrm>
            <a:off x="8596914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pic>
        <p:nvPicPr>
          <p:cNvPr id="67" name="Icone 44 - base" descr="bas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24473" y="2296881"/>
            <a:ext cx="364571" cy="364571"/>
          </a:xfrm>
          <a:prstGeom prst="rect">
            <a:avLst/>
          </a:prstGeom>
        </p:spPr>
      </p:pic>
      <p:pic>
        <p:nvPicPr>
          <p:cNvPr id="68" name="Icone 45 - rapprochement" descr="rapprochement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74506" y="2369759"/>
            <a:ext cx="218724" cy="218724"/>
          </a:xfrm>
          <a:prstGeom prst="rect">
            <a:avLst/>
          </a:prstGeom>
        </p:spPr>
      </p:pic>
      <p:sp>
        <p:nvSpPr>
          <p:cNvPr id="69" name="Text 49"/>
          <p:cNvSpPr txBox="1"/>
          <p:nvPr/>
        </p:nvSpPr>
        <p:spPr>
          <a:xfrm>
            <a:off x="8480237" y="2902123"/>
            <a:ext cx="1057321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base 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250" dirty="0"/>
          </a:p>
        </p:txBody>
      </p:sp>
      <p:pic>
        <p:nvPicPr>
          <p:cNvPr id="70" name="Icone 46 - flèche" descr="flèche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04731" y="2785445"/>
            <a:ext cx="189555" cy="189555"/>
          </a:xfrm>
          <a:prstGeom prst="rect">
            <a:avLst/>
          </a:prstGeom>
        </p:spPr>
      </p:pic>
      <p:sp>
        <p:nvSpPr>
          <p:cNvPr id="71" name="Étape 9"/>
          <p:cNvSpPr/>
          <p:nvPr/>
        </p:nvSpPr>
        <p:spPr>
          <a:xfrm>
            <a:off x="9625066" y="1822948"/>
            <a:ext cx="1334384" cy="1881287"/>
          </a:xfrm>
          <a:prstGeom prst="roundRect">
            <a:avLst>
              <a:gd name="adj" fmla="val 6853"/>
            </a:avLst>
          </a:prstGeom>
          <a:solidFill>
            <a:srgbClr val="F3FAF6"/>
          </a:solidFill>
          <a:ln/>
        </p:spPr>
      </p:sp>
      <p:sp>
        <p:nvSpPr>
          <p:cNvPr id="72" name="Shape 51"/>
          <p:cNvSpPr/>
          <p:nvPr/>
        </p:nvSpPr>
        <p:spPr>
          <a:xfrm>
            <a:off x="9927641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73" name="Shape 52"/>
          <p:cNvSpPr/>
          <p:nvPr/>
        </p:nvSpPr>
        <p:spPr>
          <a:xfrm>
            <a:off x="9778136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74" name="Text 53"/>
          <p:cNvSpPr txBox="1"/>
          <p:nvPr/>
        </p:nvSpPr>
        <p:spPr>
          <a:xfrm>
            <a:off x="9778136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pic>
        <p:nvPicPr>
          <p:cNvPr id="75" name="Icone 47 - étape 9" descr="étape 9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88027" y="2275027"/>
            <a:ext cx="408371" cy="408371"/>
          </a:xfrm>
          <a:prstGeom prst="rect">
            <a:avLst/>
          </a:prstGeom>
        </p:spPr>
      </p:pic>
      <p:sp>
        <p:nvSpPr>
          <p:cNvPr id="76" name="Text 54"/>
          <p:cNvSpPr txBox="1"/>
          <p:nvPr/>
        </p:nvSpPr>
        <p:spPr>
          <a:xfrm>
            <a:off x="9661459" y="2902123"/>
            <a:ext cx="1261506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décision sur la conformité du fichier puis du dossier</a:t>
            </a:r>
            <a:endParaRPr lang="en-US" sz="1250" dirty="0"/>
          </a:p>
        </p:txBody>
      </p:sp>
      <p:pic>
        <p:nvPicPr>
          <p:cNvPr id="77" name="Icone 48 - flèche" descr="flèche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90138" y="2785445"/>
            <a:ext cx="189555" cy="189555"/>
          </a:xfrm>
          <a:prstGeom prst="rect">
            <a:avLst/>
          </a:prstGeom>
        </p:spPr>
      </p:pic>
      <p:sp>
        <p:nvSpPr>
          <p:cNvPr id="78" name="Étape 10"/>
          <p:cNvSpPr/>
          <p:nvPr/>
        </p:nvSpPr>
        <p:spPr>
          <a:xfrm>
            <a:off x="11010473" y="1822948"/>
            <a:ext cx="955182" cy="1881287"/>
          </a:xfrm>
          <a:prstGeom prst="roundRect">
            <a:avLst>
              <a:gd name="adj" fmla="val 9573"/>
            </a:avLst>
          </a:prstGeom>
          <a:solidFill>
            <a:srgbClr val="F3FAF6"/>
          </a:solidFill>
          <a:ln/>
        </p:spPr>
      </p:sp>
      <p:sp>
        <p:nvSpPr>
          <p:cNvPr id="79" name="Shape 56"/>
          <p:cNvSpPr/>
          <p:nvPr/>
        </p:nvSpPr>
        <p:spPr>
          <a:xfrm>
            <a:off x="11123493" y="2114550"/>
            <a:ext cx="729143" cy="729143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80" name="Shape 57"/>
          <p:cNvSpPr/>
          <p:nvPr/>
        </p:nvSpPr>
        <p:spPr>
          <a:xfrm>
            <a:off x="11163544" y="1895826"/>
            <a:ext cx="247894" cy="247894"/>
          </a:xfrm>
          <a:prstGeom prst="ellipse">
            <a:avLst/>
          </a:prstGeom>
          <a:solidFill>
            <a:srgbClr val="05AA66"/>
          </a:solidFill>
          <a:ln/>
        </p:spPr>
      </p:sp>
      <p:sp>
        <p:nvSpPr>
          <p:cNvPr id="81" name="Text 58"/>
          <p:cNvSpPr txBox="1"/>
          <p:nvPr/>
        </p:nvSpPr>
        <p:spPr>
          <a:xfrm>
            <a:off x="11163544" y="1895826"/>
            <a:ext cx="247894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pic>
        <p:nvPicPr>
          <p:cNvPr id="82" name="Icone 49 - étape 10" descr="étape 10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83879" y="2275027"/>
            <a:ext cx="408371" cy="408371"/>
          </a:xfrm>
          <a:prstGeom prst="rect">
            <a:avLst/>
          </a:prstGeom>
        </p:spPr>
      </p:pic>
      <p:sp>
        <p:nvSpPr>
          <p:cNvPr id="83" name="Text 59"/>
          <p:cNvSpPr txBox="1"/>
          <p:nvPr/>
        </p:nvSpPr>
        <p:spPr>
          <a:xfrm>
            <a:off x="11046866" y="2902123"/>
            <a:ext cx="882305" cy="76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utilisation métier</a:t>
            </a:r>
            <a:endParaRPr lang="en-US" sz="1250" dirty="0"/>
          </a:p>
        </p:txBody>
      </p:sp>
      <p:sp>
        <p:nvSpPr>
          <p:cNvPr id="84" name="Shape 60"/>
          <p:cNvSpPr/>
          <p:nvPr/>
        </p:nvSpPr>
        <p:spPr>
          <a:xfrm>
            <a:off x="6686459" y="3704143"/>
            <a:ext cx="0" cy="102047"/>
          </a:xfrm>
          <a:prstGeom prst="line">
            <a:avLst/>
          </a:prstGeom>
          <a:noFill/>
          <a:ln w="19050">
            <a:solidFill>
              <a:srgbClr val="1E9E63"/>
            </a:solidFill>
            <a:prstDash val="solid"/>
          </a:ln>
        </p:spPr>
      </p:sp>
      <p:sp>
        <p:nvSpPr>
          <p:cNvPr id="85" name="Shape 61"/>
          <p:cNvSpPr/>
          <p:nvPr/>
        </p:nvSpPr>
        <p:spPr>
          <a:xfrm>
            <a:off x="5891662" y="3806281"/>
            <a:ext cx="794796" cy="0"/>
          </a:xfrm>
          <a:prstGeom prst="line">
            <a:avLst/>
          </a:prstGeom>
          <a:noFill/>
          <a:ln w="19050">
            <a:solidFill>
              <a:srgbClr val="1E9E63"/>
            </a:solidFill>
            <a:prstDash val="solid"/>
          </a:ln>
        </p:spPr>
      </p:sp>
      <p:sp>
        <p:nvSpPr>
          <p:cNvPr id="86" name="Shape 62"/>
          <p:cNvSpPr/>
          <p:nvPr/>
        </p:nvSpPr>
        <p:spPr>
          <a:xfrm>
            <a:off x="6686459" y="3806281"/>
            <a:ext cx="787481" cy="0"/>
          </a:xfrm>
          <a:prstGeom prst="line">
            <a:avLst/>
          </a:prstGeom>
          <a:noFill/>
          <a:ln w="19050">
            <a:solidFill>
              <a:srgbClr val="EE7A1E"/>
            </a:solidFill>
            <a:prstDash val="solid"/>
          </a:ln>
        </p:spPr>
      </p:sp>
      <p:sp>
        <p:nvSpPr>
          <p:cNvPr id="87" name="Shape 63"/>
          <p:cNvSpPr/>
          <p:nvPr/>
        </p:nvSpPr>
        <p:spPr>
          <a:xfrm>
            <a:off x="5891662" y="3806281"/>
            <a:ext cx="0" cy="189555"/>
          </a:xfrm>
          <a:prstGeom prst="line">
            <a:avLst/>
          </a:prstGeom>
          <a:noFill/>
          <a:ln w="19050">
            <a:solidFill>
              <a:srgbClr val="1E9E63"/>
            </a:solidFill>
            <a:prstDash val="solid"/>
            <a:tailEnd type="triangle"/>
          </a:ln>
        </p:spPr>
      </p:sp>
      <p:sp>
        <p:nvSpPr>
          <p:cNvPr id="88" name="Shape 64"/>
          <p:cNvSpPr/>
          <p:nvPr/>
        </p:nvSpPr>
        <p:spPr>
          <a:xfrm>
            <a:off x="7473940" y="3806281"/>
            <a:ext cx="0" cy="189555"/>
          </a:xfrm>
          <a:prstGeom prst="line">
            <a:avLst/>
          </a:prstGeom>
          <a:noFill/>
          <a:ln w="19050">
            <a:solidFill>
              <a:srgbClr val="EE7A1E"/>
            </a:solidFill>
            <a:prstDash val="solid"/>
            <a:tailEnd type="triangle"/>
          </a:ln>
        </p:spPr>
      </p:sp>
      <p:sp>
        <p:nvSpPr>
          <p:cNvPr id="89" name="Cas fiables"/>
          <p:cNvSpPr/>
          <p:nvPr/>
        </p:nvSpPr>
        <p:spPr>
          <a:xfrm>
            <a:off x="4724979" y="4010467"/>
            <a:ext cx="1983334" cy="656265"/>
          </a:xfrm>
          <a:prstGeom prst="roundRect">
            <a:avLst>
              <a:gd name="adj" fmla="val 16720"/>
            </a:avLst>
          </a:prstGeom>
          <a:solidFill>
            <a:srgbClr val="E7F7ED"/>
          </a:solidFill>
          <a:ln/>
        </p:spPr>
      </p:sp>
      <p:sp>
        <p:nvSpPr>
          <p:cNvPr id="90" name="Shape 66"/>
          <p:cNvSpPr/>
          <p:nvPr/>
        </p:nvSpPr>
        <p:spPr>
          <a:xfrm>
            <a:off x="4841657" y="4148999"/>
            <a:ext cx="379202" cy="379202"/>
          </a:xfrm>
          <a:prstGeom prst="ellipse">
            <a:avLst/>
          </a:prstGeom>
          <a:solidFill>
            <a:srgbClr val="3EC57D"/>
          </a:solidFill>
          <a:ln/>
        </p:spPr>
      </p:sp>
      <p:pic>
        <p:nvPicPr>
          <p:cNvPr id="91" name="Icone 50 - coche" descr="coche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2797" y="4220047"/>
            <a:ext cx="237012" cy="237012"/>
          </a:xfrm>
          <a:prstGeom prst="rect">
            <a:avLst/>
          </a:prstGeom>
        </p:spPr>
      </p:pic>
      <p:sp>
        <p:nvSpPr>
          <p:cNvPr id="92" name="Text 67"/>
          <p:cNvSpPr txBox="1"/>
          <p:nvPr/>
        </p:nvSpPr>
        <p:spPr>
          <a:xfrm>
            <a:off x="5301051" y="4054175"/>
            <a:ext cx="1385407" cy="58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8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fiables :</a:t>
            </a:r>
            <a:pPr algn="l" indent="0" marL="0">
              <a:lnSpc>
                <a:spcPct val="100000"/>
              </a:lnSpc>
              <a:buNone/>
            </a:pP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poursuite automatique du flux</a:t>
            </a:r>
            <a:endParaRPr lang="en-US" sz="1300" dirty="0"/>
          </a:p>
        </p:txBody>
      </p:sp>
      <p:sp>
        <p:nvSpPr>
          <p:cNvPr id="93" name="Cas incertains"/>
          <p:cNvSpPr/>
          <p:nvPr/>
        </p:nvSpPr>
        <p:spPr>
          <a:xfrm>
            <a:off x="6817766" y="4010467"/>
            <a:ext cx="1764609" cy="656265"/>
          </a:xfrm>
          <a:prstGeom prst="roundRect">
            <a:avLst>
              <a:gd name="adj" fmla="val 16720"/>
            </a:avLst>
          </a:prstGeom>
          <a:solidFill>
            <a:srgbClr val="FDEEE3"/>
          </a:solidFill>
          <a:ln/>
        </p:spPr>
      </p:sp>
      <p:sp>
        <p:nvSpPr>
          <p:cNvPr id="94" name="Shape 69"/>
          <p:cNvSpPr/>
          <p:nvPr/>
        </p:nvSpPr>
        <p:spPr>
          <a:xfrm>
            <a:off x="6941668" y="4148999"/>
            <a:ext cx="379202" cy="379202"/>
          </a:xfrm>
          <a:prstGeom prst="ellipse">
            <a:avLst/>
          </a:prstGeom>
          <a:solidFill>
            <a:srgbClr val="EE7A1E"/>
          </a:solidFill>
          <a:ln/>
        </p:spPr>
      </p:sp>
      <p:pic>
        <p:nvPicPr>
          <p:cNvPr id="95" name="Icone 51 - utilisateur" descr="utilisateur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36491" y="4236507"/>
            <a:ext cx="189555" cy="189555"/>
          </a:xfrm>
          <a:prstGeom prst="rect">
            <a:avLst/>
          </a:prstGeom>
        </p:spPr>
      </p:pic>
      <p:sp>
        <p:nvSpPr>
          <p:cNvPr id="96" name="Text 70"/>
          <p:cNvSpPr txBox="1"/>
          <p:nvPr/>
        </p:nvSpPr>
        <p:spPr>
          <a:xfrm>
            <a:off x="7415601" y="4083345"/>
            <a:ext cx="1166683" cy="524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incertains :</a:t>
            </a:r>
            <a:pPr algn="l" indent="0" marL="0">
              <a:lnSpc>
                <a:spcPct val="100000"/>
              </a:lnSpc>
              <a:buNone/>
            </a:pP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humaine</a:t>
            </a:r>
            <a:endParaRPr lang="en-US" sz="1300" dirty="0"/>
          </a:p>
        </p:txBody>
      </p:sp>
      <p:sp>
        <p:nvSpPr>
          <p:cNvPr id="97" name="Shape 71"/>
          <p:cNvSpPr/>
          <p:nvPr/>
        </p:nvSpPr>
        <p:spPr>
          <a:xfrm>
            <a:off x="8582284" y="4345869"/>
            <a:ext cx="473934" cy="0"/>
          </a:xfrm>
          <a:prstGeom prst="line">
            <a:avLst/>
          </a:prstGeom>
          <a:noFill/>
          <a:ln w="15875">
            <a:solidFill>
              <a:srgbClr val="9AA3AA"/>
            </a:solidFill>
            <a:prstDash val="dash"/>
          </a:ln>
        </p:spPr>
      </p:sp>
      <p:sp>
        <p:nvSpPr>
          <p:cNvPr id="98" name="Shape 72"/>
          <p:cNvSpPr/>
          <p:nvPr/>
        </p:nvSpPr>
        <p:spPr>
          <a:xfrm flipV="1">
            <a:off x="9056309" y="3733312"/>
            <a:ext cx="0" cy="612465"/>
          </a:xfrm>
          <a:prstGeom prst="line">
            <a:avLst/>
          </a:prstGeom>
          <a:noFill/>
          <a:ln w="15875">
            <a:solidFill>
              <a:srgbClr val="9AA3AA"/>
            </a:solidFill>
            <a:prstDash val="dash"/>
            <a:tailEnd type="triangle"/>
          </a:ln>
        </p:spPr>
      </p:sp>
      <p:sp>
        <p:nvSpPr>
          <p:cNvPr id="99" name="Shape 73"/>
          <p:cNvSpPr/>
          <p:nvPr/>
        </p:nvSpPr>
        <p:spPr>
          <a:xfrm>
            <a:off x="277063" y="4827118"/>
            <a:ext cx="11681277" cy="911474"/>
          </a:xfrm>
          <a:prstGeom prst="roundRect">
            <a:avLst>
              <a:gd name="adj" fmla="val 10032"/>
            </a:avLst>
          </a:prstGeom>
          <a:solidFill>
            <a:srgbClr val="F1F8F4"/>
          </a:solidFill>
          <a:ln/>
        </p:spPr>
      </p:sp>
      <p:sp>
        <p:nvSpPr>
          <p:cNvPr id="100" name="Shape 74"/>
          <p:cNvSpPr/>
          <p:nvPr/>
        </p:nvSpPr>
        <p:spPr>
          <a:xfrm>
            <a:off x="277063" y="4827118"/>
            <a:ext cx="36485" cy="911474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01" name="Shape 75"/>
          <p:cNvSpPr/>
          <p:nvPr/>
        </p:nvSpPr>
        <p:spPr>
          <a:xfrm>
            <a:off x="546903" y="4965649"/>
            <a:ext cx="627096" cy="627096"/>
          </a:xfrm>
          <a:prstGeom prst="ellipse">
            <a:avLst/>
          </a:prstGeom>
          <a:solidFill>
            <a:srgbClr val="D9F3E7"/>
          </a:solidFill>
          <a:ln/>
        </p:spPr>
      </p:sp>
      <p:sp>
        <p:nvSpPr>
          <p:cNvPr id="102" name="Shape 76"/>
          <p:cNvSpPr/>
          <p:nvPr/>
        </p:nvSpPr>
        <p:spPr>
          <a:xfrm>
            <a:off x="648950" y="5067696"/>
            <a:ext cx="422910" cy="422910"/>
          </a:xfrm>
          <a:prstGeom prst="ellipse">
            <a:avLst/>
          </a:prstGeom>
          <a:solidFill>
            <a:srgbClr val="0E8A52"/>
          </a:solidFill>
          <a:ln/>
        </p:spPr>
      </p:sp>
      <p:sp>
        <p:nvSpPr>
          <p:cNvPr id="103" name="Text 77"/>
          <p:cNvSpPr txBox="1"/>
          <p:nvPr/>
        </p:nvSpPr>
        <p:spPr>
          <a:xfrm>
            <a:off x="648950" y="5067696"/>
            <a:ext cx="42291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7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71" dirty="0"/>
          </a:p>
        </p:txBody>
      </p:sp>
      <p:sp>
        <p:nvSpPr>
          <p:cNvPr id="104" name="Shape 78"/>
          <p:cNvSpPr/>
          <p:nvPr/>
        </p:nvSpPr>
        <p:spPr>
          <a:xfrm>
            <a:off x="1385407" y="5031303"/>
            <a:ext cx="0" cy="524957"/>
          </a:xfrm>
          <a:prstGeom prst="line">
            <a:avLst/>
          </a:prstGeom>
          <a:noFill/>
          <a:ln w="19050">
            <a:solidFill>
              <a:srgbClr val="0B4F3F"/>
            </a:solidFill>
            <a:prstDash val="solid"/>
          </a:ln>
        </p:spPr>
      </p:sp>
      <p:sp>
        <p:nvSpPr>
          <p:cNvPr id="105" name="Text 79"/>
          <p:cNvSpPr txBox="1"/>
          <p:nvPr/>
        </p:nvSpPr>
        <p:spPr>
          <a:xfrm>
            <a:off x="1633301" y="5002134"/>
            <a:ext cx="7510424" cy="306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B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≠ faire confiance aveuglément à l’IA</a:t>
            </a:r>
            <a:endParaRPr lang="en-US" sz="2200" dirty="0"/>
          </a:p>
        </p:txBody>
      </p:sp>
      <p:sp>
        <p:nvSpPr>
          <p:cNvPr id="106" name="Text 80"/>
          <p:cNvSpPr txBox="1"/>
          <p:nvPr/>
        </p:nvSpPr>
        <p:spPr>
          <a:xfrm>
            <a:off x="1633301" y="5330220"/>
            <a:ext cx="7583394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cas fiables poursuivent le traitement ; les cas incertains sont orientés vers un contrôle humain.</a:t>
            </a:r>
            <a:endParaRPr lang="en-US" sz="1500" dirty="0"/>
          </a:p>
        </p:txBody>
      </p:sp>
      <p:sp>
        <p:nvSpPr>
          <p:cNvPr id="107" name="Shape 81"/>
          <p:cNvSpPr/>
          <p:nvPr/>
        </p:nvSpPr>
        <p:spPr>
          <a:xfrm>
            <a:off x="9289572" y="5031303"/>
            <a:ext cx="0" cy="524957"/>
          </a:xfrm>
          <a:prstGeom prst="line">
            <a:avLst/>
          </a:prstGeom>
          <a:noFill/>
          <a:ln w="15875">
            <a:solidFill>
              <a:srgbClr val="0B4F3F"/>
            </a:solidFill>
            <a:prstDash val="solid"/>
          </a:ln>
        </p:spPr>
      </p:sp>
      <p:sp>
        <p:nvSpPr>
          <p:cNvPr id="108" name="Shape 82"/>
          <p:cNvSpPr/>
          <p:nvPr/>
        </p:nvSpPr>
        <p:spPr>
          <a:xfrm>
            <a:off x="9515612" y="5075011"/>
            <a:ext cx="437540" cy="437540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09" name="Icone 52 - puce IA" descr="puce IA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52097" y="5111496"/>
            <a:ext cx="364571" cy="364571"/>
          </a:xfrm>
          <a:prstGeom prst="rect">
            <a:avLst/>
          </a:prstGeom>
        </p:spPr>
      </p:pic>
      <p:sp>
        <p:nvSpPr>
          <p:cNvPr id="110" name="Text 83"/>
          <p:cNvSpPr txBox="1"/>
          <p:nvPr/>
        </p:nvSpPr>
        <p:spPr>
          <a:xfrm>
            <a:off x="9625066" y="5206228"/>
            <a:ext cx="218724" cy="17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00" dirty="0"/>
          </a:p>
        </p:txBody>
      </p:sp>
      <p:sp>
        <p:nvSpPr>
          <p:cNvPr id="111" name="Shape 84"/>
          <p:cNvSpPr/>
          <p:nvPr/>
        </p:nvSpPr>
        <p:spPr>
          <a:xfrm>
            <a:off x="10091684" y="4936480"/>
            <a:ext cx="627096" cy="7146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hape 85"/>
          <p:cNvSpPr/>
          <p:nvPr/>
        </p:nvSpPr>
        <p:spPr>
          <a:xfrm>
            <a:off x="10062515" y="4907310"/>
            <a:ext cx="102047" cy="0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3" name="Shape 86"/>
          <p:cNvSpPr/>
          <p:nvPr/>
        </p:nvSpPr>
        <p:spPr>
          <a:xfrm>
            <a:off x="10062515" y="4907310"/>
            <a:ext cx="0" cy="102047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4" name="Shape 87"/>
          <p:cNvSpPr/>
          <p:nvPr/>
        </p:nvSpPr>
        <p:spPr>
          <a:xfrm flipH="1">
            <a:off x="10631272" y="4907310"/>
            <a:ext cx="102047" cy="0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5" name="Shape 88"/>
          <p:cNvSpPr/>
          <p:nvPr/>
        </p:nvSpPr>
        <p:spPr>
          <a:xfrm>
            <a:off x="10733319" y="4907310"/>
            <a:ext cx="0" cy="102047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6" name="Shape 89"/>
          <p:cNvSpPr/>
          <p:nvPr/>
        </p:nvSpPr>
        <p:spPr>
          <a:xfrm>
            <a:off x="10062515" y="5665622"/>
            <a:ext cx="102047" cy="0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7" name="Shape 90"/>
          <p:cNvSpPr/>
          <p:nvPr/>
        </p:nvSpPr>
        <p:spPr>
          <a:xfrm flipV="1">
            <a:off x="10062515" y="5563575"/>
            <a:ext cx="0" cy="102047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8" name="Shape 91"/>
          <p:cNvSpPr/>
          <p:nvPr/>
        </p:nvSpPr>
        <p:spPr>
          <a:xfrm flipH="1">
            <a:off x="10631272" y="5665622"/>
            <a:ext cx="102047" cy="0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sp>
        <p:nvSpPr>
          <p:cNvPr id="119" name="Shape 92"/>
          <p:cNvSpPr/>
          <p:nvPr/>
        </p:nvSpPr>
        <p:spPr>
          <a:xfrm flipV="1">
            <a:off x="10733319" y="5563575"/>
            <a:ext cx="0" cy="102047"/>
          </a:xfrm>
          <a:prstGeom prst="line">
            <a:avLst/>
          </a:prstGeom>
          <a:noFill/>
          <a:ln w="19050">
            <a:solidFill>
              <a:srgbClr val="1EA36A"/>
            </a:solidFill>
            <a:prstDash val="solid"/>
          </a:ln>
        </p:spPr>
      </p:sp>
      <p:pic>
        <p:nvPicPr>
          <p:cNvPr id="120" name="Icone 53 - document" descr="document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71877" y="5067696"/>
            <a:ext cx="452079" cy="452079"/>
          </a:xfrm>
          <a:prstGeom prst="rect">
            <a:avLst/>
          </a:prstGeom>
        </p:spPr>
      </p:pic>
      <p:pic>
        <p:nvPicPr>
          <p:cNvPr id="121" name="Icone 54 - vers" descr="vers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20827" y="5031303"/>
            <a:ext cx="247894" cy="247894"/>
          </a:xfrm>
          <a:prstGeom prst="rect">
            <a:avLst/>
          </a:prstGeom>
        </p:spPr>
      </p:pic>
      <p:pic>
        <p:nvPicPr>
          <p:cNvPr id="122" name="Icone 55 - retour" descr="retour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0827" y="5286512"/>
            <a:ext cx="247894" cy="247894"/>
          </a:xfrm>
          <a:prstGeom prst="rect">
            <a:avLst/>
          </a:prstGeom>
        </p:spPr>
      </p:pic>
      <p:sp>
        <p:nvSpPr>
          <p:cNvPr id="123" name="Shape 93"/>
          <p:cNvSpPr/>
          <p:nvPr/>
        </p:nvSpPr>
        <p:spPr>
          <a:xfrm>
            <a:off x="11163544" y="5082327"/>
            <a:ext cx="437540" cy="437540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24" name="Icone 56 - utilisateur" descr="utilisateur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272906" y="5184374"/>
            <a:ext cx="218724" cy="218724"/>
          </a:xfrm>
          <a:prstGeom prst="rect">
            <a:avLst/>
          </a:prstGeom>
        </p:spPr>
      </p:pic>
      <p:sp>
        <p:nvSpPr>
          <p:cNvPr id="125" name="Shape 94"/>
          <p:cNvSpPr/>
          <p:nvPr/>
        </p:nvSpPr>
        <p:spPr>
          <a:xfrm>
            <a:off x="277063" y="5833323"/>
            <a:ext cx="11681277" cy="524957"/>
          </a:xfrm>
          <a:prstGeom prst="roundRect">
            <a:avLst>
              <a:gd name="adj" fmla="val 17419"/>
            </a:avLst>
          </a:prstGeom>
          <a:solidFill>
            <a:srgbClr val="F0F8F4"/>
          </a:solidFill>
          <a:ln/>
        </p:spPr>
      </p:sp>
      <p:sp>
        <p:nvSpPr>
          <p:cNvPr id="126" name="Shape 95"/>
          <p:cNvSpPr/>
          <p:nvPr/>
        </p:nvSpPr>
        <p:spPr>
          <a:xfrm>
            <a:off x="277063" y="5833323"/>
            <a:ext cx="36485" cy="524957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27" name="Shape 96"/>
          <p:cNvSpPr/>
          <p:nvPr/>
        </p:nvSpPr>
        <p:spPr>
          <a:xfrm>
            <a:off x="532272" y="5898977"/>
            <a:ext cx="393741" cy="393741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28" name="Icone 57 - graphique" descr="graphique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2465" y="5979170"/>
            <a:ext cx="233355" cy="233355"/>
          </a:xfrm>
          <a:prstGeom prst="rect">
            <a:avLst/>
          </a:prstGeom>
        </p:spPr>
      </p:pic>
      <p:sp>
        <p:nvSpPr>
          <p:cNvPr id="129" name="Text 97"/>
          <p:cNvSpPr txBox="1"/>
          <p:nvPr/>
        </p:nvSpPr>
        <p:spPr>
          <a:xfrm>
            <a:off x="1152053" y="5920831"/>
            <a:ext cx="1071878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cible plus fluide, plus structuré et plus sécurisé,</a:t>
            </a:r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combinant automatisation intelligente et contrôle métier.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Photo d’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7140" y="0"/>
            <a:ext cx="3164556" cy="1720809"/>
          </a:xfrm>
          <a:prstGeom prst="rect">
            <a:avLst/>
          </a:prstGeom>
        </p:spPr>
      </p:pic>
      <p:sp>
        <p:nvSpPr>
          <p:cNvPr id="3" name="Numéro de section"/>
          <p:cNvSpPr/>
          <p:nvPr/>
        </p:nvSpPr>
        <p:spPr>
          <a:xfrm>
            <a:off x="291694" y="0"/>
            <a:ext cx="247894" cy="379202"/>
          </a:xfrm>
          <a:prstGeom prst="rect">
            <a:avLst/>
          </a:prstGeom>
          <a:solidFill>
            <a:srgbClr val="3DAE7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291694" y="175016"/>
            <a:ext cx="247894" cy="18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Libellé section"/>
          <p:cNvSpPr txBox="1"/>
          <p:nvPr/>
        </p:nvSpPr>
        <p:spPr>
          <a:xfrm>
            <a:off x="736458" y="175016"/>
            <a:ext cx="4375038" cy="204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400" dirty="0"/>
          </a:p>
        </p:txBody>
      </p:sp>
      <p:sp>
        <p:nvSpPr>
          <p:cNvPr id="6" name="Titre"/>
          <p:cNvSpPr txBox="1"/>
          <p:nvPr/>
        </p:nvSpPr>
        <p:spPr>
          <a:xfrm>
            <a:off x="291694" y="452079"/>
            <a:ext cx="8385414" cy="597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Qu’avons-nous réellement testé ?</a:t>
            </a:r>
            <a:endParaRPr lang="en-US" sz="4200" dirty="0"/>
          </a:p>
        </p:txBody>
      </p:sp>
      <p:sp>
        <p:nvSpPr>
          <p:cNvPr id="7" name="Sous-titre"/>
          <p:cNvSpPr txBox="1"/>
          <p:nvPr/>
        </p:nvSpPr>
        <p:spPr>
          <a:xfrm>
            <a:off x="306233" y="1093714"/>
            <a:ext cx="8822954" cy="51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F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du prototype a été défini sur les principaux documents du processus de recertification, avec un focus sur la faisabilité de lecture, d’extraction et de structuration des informations.</a:t>
            </a:r>
            <a:endParaRPr lang="en-US" sz="1600" dirty="0"/>
          </a:p>
        </p:txBody>
      </p:sp>
      <p:pic>
        <p:nvPicPr>
          <p:cNvPr id="8" name="Logo BNP Paribas" descr="Logo BNP Parib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149" y="102047"/>
            <a:ext cx="393741" cy="393741"/>
          </a:xfrm>
          <a:prstGeom prst="rect">
            <a:avLst/>
          </a:prstGeom>
        </p:spPr>
      </p:pic>
      <p:sp>
        <p:nvSpPr>
          <p:cNvPr id="9" name="Logo texte"/>
          <p:cNvSpPr txBox="1"/>
          <p:nvPr/>
        </p:nvSpPr>
        <p:spPr>
          <a:xfrm>
            <a:off x="8210398" y="102047"/>
            <a:ext cx="2187519" cy="19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700" dirty="0"/>
          </a:p>
        </p:txBody>
      </p:sp>
      <p:sp>
        <p:nvSpPr>
          <p:cNvPr id="10" name="Signature"/>
          <p:cNvSpPr txBox="1"/>
          <p:nvPr/>
        </p:nvSpPr>
        <p:spPr>
          <a:xfrm>
            <a:off x="8210398" y="313548"/>
            <a:ext cx="2187519" cy="13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banque d’un monde qui change</a:t>
            </a:r>
            <a:endParaRPr lang="en-US" sz="900" dirty="0"/>
          </a:p>
        </p:txBody>
      </p:sp>
      <p:sp>
        <p:nvSpPr>
          <p:cNvPr id="11" name="Périmètre documentaire"/>
          <p:cNvSpPr/>
          <p:nvPr/>
        </p:nvSpPr>
        <p:spPr>
          <a:xfrm>
            <a:off x="255209" y="1720809"/>
            <a:ext cx="5920831" cy="2428098"/>
          </a:xfrm>
          <a:prstGeom prst="roundRect">
            <a:avLst>
              <a:gd name="adj" fmla="val 1883"/>
            </a:avLst>
          </a:prstGeom>
          <a:solidFill>
            <a:srgbClr val="F5F8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4571" y="1749979"/>
            <a:ext cx="437540" cy="437540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3" name="Icone 58 - document" descr="docu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9" y="1837487"/>
            <a:ext cx="262524" cy="2625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1667" y="1837487"/>
            <a:ext cx="4375038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documentaire testé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7256" y="2216688"/>
          <a:ext cx="5702107" cy="914400"/>
        </p:xfrm>
        <a:graphic>
          <a:graphicData uri="http://schemas.openxmlformats.org/drawingml/2006/table">
            <a:tbl>
              <a:tblPr/>
              <a:tblGrid>
                <a:gridCol w="1749979"/>
                <a:gridCol w="860450"/>
                <a:gridCol w="860450"/>
                <a:gridCol w="933328"/>
                <a:gridCol w="1297899"/>
              </a:tblGrid>
              <a:tr h="5249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document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Écriture manuscrite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du type de document avec OCR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</a:tr>
              <a:tr h="259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Justificatif d’identité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59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Justificatif de domicile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</a:tr>
              <a:tr h="259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 de compte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59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</a:tr>
              <a:tr h="259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Carton de signature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6" name="Champs cibles"/>
          <p:cNvSpPr/>
          <p:nvPr/>
        </p:nvSpPr>
        <p:spPr>
          <a:xfrm>
            <a:off x="6314572" y="1720809"/>
            <a:ext cx="5651083" cy="2428098"/>
          </a:xfrm>
          <a:prstGeom prst="roundRect">
            <a:avLst>
              <a:gd name="adj" fmla="val 1883"/>
            </a:avLst>
          </a:prstGeom>
          <a:solidFill>
            <a:srgbClr val="F5F8F7"/>
          </a:solidFill>
          <a:ln/>
        </p:spPr>
      </p:sp>
      <p:sp>
        <p:nvSpPr>
          <p:cNvPr id="17" name="Shape 11"/>
          <p:cNvSpPr/>
          <p:nvPr/>
        </p:nvSpPr>
        <p:spPr>
          <a:xfrm>
            <a:off x="6416711" y="1749979"/>
            <a:ext cx="437540" cy="437540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18" name="Icone 59 - cible" descr="ci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903" y="1830172"/>
            <a:ext cx="277063" cy="27706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07322" y="1837487"/>
            <a:ext cx="4812487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cibles par type de document</a:t>
            </a:r>
            <a:endParaRPr lang="en-US" sz="1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3934" y="2216688"/>
          <a:ext cx="5425044" cy="914400"/>
        </p:xfrm>
        <a:graphic>
          <a:graphicData uri="http://schemas.openxmlformats.org/drawingml/2006/table">
            <a:tbl>
              <a:tblPr/>
              <a:tblGrid>
                <a:gridCol w="1545793"/>
                <a:gridCol w="802112"/>
                <a:gridCol w="802112"/>
                <a:gridCol w="816651"/>
                <a:gridCol w="656265"/>
                <a:gridCol w="802112"/>
              </a:tblGrid>
              <a:tr h="4812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d’information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Justificatif d’identité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Justificatif de domicile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 de compte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Carton de 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4A"/>
                    </a:solidFill>
                  </a:tcPr>
                </a:tc>
              </a:tr>
              <a:tr h="291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&amp; Prénom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291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de naissance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</a:tr>
              <a:tr h="408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d’expiration du document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5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Numéro de compte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5"/>
                    </a:solidFill>
                  </a:tcPr>
                </a:tc>
              </a:tr>
            </a:tbl>
          </a:graphicData>
        </a:graphic>
      </p:graphicFrame>
      <p:sp>
        <p:nvSpPr>
          <p:cNvPr id="21" name="Shape 13"/>
          <p:cNvSpPr/>
          <p:nvPr/>
        </p:nvSpPr>
        <p:spPr>
          <a:xfrm>
            <a:off x="277063" y="4229191"/>
            <a:ext cx="11681277" cy="1130198"/>
          </a:xfrm>
          <a:prstGeom prst="roundRect">
            <a:avLst>
              <a:gd name="adj" fmla="val 8091"/>
            </a:avLst>
          </a:prstGeom>
          <a:solidFill>
            <a:srgbClr val="F1F8F4"/>
          </a:solidFill>
          <a:ln/>
        </p:spPr>
      </p:sp>
      <p:sp>
        <p:nvSpPr>
          <p:cNvPr id="22" name="Shape 14"/>
          <p:cNvSpPr/>
          <p:nvPr/>
        </p:nvSpPr>
        <p:spPr>
          <a:xfrm>
            <a:off x="277063" y="4229191"/>
            <a:ext cx="36485" cy="113019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3" name="Shape 15"/>
          <p:cNvSpPr/>
          <p:nvPr/>
        </p:nvSpPr>
        <p:spPr>
          <a:xfrm>
            <a:off x="488564" y="4258361"/>
            <a:ext cx="379202" cy="379202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24" name="Icone 60 - graphique" descr="graphiqu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7" y="4338554"/>
            <a:ext cx="218724" cy="21872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64544" y="4323923"/>
            <a:ext cx="5104181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d’avancement du prototype</a:t>
            </a:r>
            <a:endParaRPr lang="en-US" sz="1900" dirty="0"/>
          </a:p>
        </p:txBody>
      </p:sp>
      <p:sp>
        <p:nvSpPr>
          <p:cNvPr id="26" name="Shape 17"/>
          <p:cNvSpPr/>
          <p:nvPr/>
        </p:nvSpPr>
        <p:spPr>
          <a:xfrm>
            <a:off x="1079175" y="4717755"/>
            <a:ext cx="1764609" cy="524957"/>
          </a:xfrm>
          <a:prstGeom prst="roundRect">
            <a:avLst>
              <a:gd name="adj" fmla="val 26128"/>
            </a:avLst>
          </a:prstGeom>
          <a:solidFill>
            <a:srgbClr val="E8F3EE"/>
          </a:solidFill>
          <a:ln/>
        </p:spPr>
      </p:sp>
      <p:sp>
        <p:nvSpPr>
          <p:cNvPr id="27" name="Shape 18"/>
          <p:cNvSpPr/>
          <p:nvPr/>
        </p:nvSpPr>
        <p:spPr>
          <a:xfrm>
            <a:off x="554126" y="4688586"/>
            <a:ext cx="583296" cy="583296"/>
          </a:xfrm>
          <a:prstGeom prst="ellipse">
            <a:avLst/>
          </a:prstGeom>
          <a:solidFill>
            <a:srgbClr val="D9F3E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cone 61 - Développé" descr="Développ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34" y="4819802"/>
            <a:ext cx="320863" cy="320863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356238" y="4834341"/>
            <a:ext cx="1020836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</a:t>
            </a:r>
            <a:endParaRPr lang="en-US" sz="1650" dirty="0"/>
          </a:p>
        </p:txBody>
      </p:sp>
      <p:sp>
        <p:nvSpPr>
          <p:cNvPr id="30" name="Shape 20"/>
          <p:cNvSpPr/>
          <p:nvPr/>
        </p:nvSpPr>
        <p:spPr>
          <a:xfrm>
            <a:off x="2406244" y="4834341"/>
            <a:ext cx="291694" cy="291694"/>
          </a:xfrm>
          <a:prstGeom prst="ellipse">
            <a:avLst/>
          </a:prstGeom>
          <a:solidFill>
            <a:srgbClr val="1EA35F"/>
          </a:solidFill>
          <a:ln/>
        </p:spPr>
      </p:sp>
      <p:pic>
        <p:nvPicPr>
          <p:cNvPr id="31" name="Icone 62 - coche" descr="coch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0925" y="4889114"/>
            <a:ext cx="182331" cy="182331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3937498" y="4717755"/>
            <a:ext cx="1604132" cy="524957"/>
          </a:xfrm>
          <a:prstGeom prst="roundRect">
            <a:avLst>
              <a:gd name="adj" fmla="val 26128"/>
            </a:avLst>
          </a:prstGeom>
          <a:solidFill>
            <a:srgbClr val="E8F3EE"/>
          </a:solidFill>
          <a:ln/>
        </p:spPr>
      </p:sp>
      <p:sp>
        <p:nvSpPr>
          <p:cNvPr id="33" name="Shape 22"/>
          <p:cNvSpPr/>
          <p:nvPr/>
        </p:nvSpPr>
        <p:spPr>
          <a:xfrm>
            <a:off x="3412541" y="4688586"/>
            <a:ext cx="583296" cy="583296"/>
          </a:xfrm>
          <a:prstGeom prst="ellipse">
            <a:avLst/>
          </a:prstGeom>
          <a:solidFill>
            <a:srgbClr val="D9F3E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cone 63 - Testé" descr="Test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757" y="4819802"/>
            <a:ext cx="320863" cy="320863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4214561" y="4834341"/>
            <a:ext cx="1020836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</a:t>
            </a:r>
            <a:endParaRPr lang="en-US" sz="1650" dirty="0"/>
          </a:p>
        </p:txBody>
      </p:sp>
      <p:sp>
        <p:nvSpPr>
          <p:cNvPr id="36" name="Shape 24"/>
          <p:cNvSpPr/>
          <p:nvPr/>
        </p:nvSpPr>
        <p:spPr>
          <a:xfrm>
            <a:off x="5104181" y="4834341"/>
            <a:ext cx="291694" cy="291694"/>
          </a:xfrm>
          <a:prstGeom prst="ellipse">
            <a:avLst/>
          </a:prstGeom>
          <a:solidFill>
            <a:srgbClr val="1EA35F"/>
          </a:solidFill>
          <a:ln/>
        </p:spPr>
      </p:sp>
      <p:pic>
        <p:nvPicPr>
          <p:cNvPr id="37" name="Icone 64 - coche" descr="coch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8862" y="4889114"/>
            <a:ext cx="182331" cy="182331"/>
          </a:xfrm>
          <a:prstGeom prst="rect">
            <a:avLst/>
          </a:prstGeom>
        </p:spPr>
      </p:pic>
      <p:pic>
        <p:nvPicPr>
          <p:cNvPr id="38" name="Icone 65 - flèche" descr="flèch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6024" y="4870826"/>
            <a:ext cx="218724" cy="218724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5920831" y="4637471"/>
            <a:ext cx="524957" cy="524957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40" name="Icone 66 - avancement" descr="avancemen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7509" y="4754148"/>
            <a:ext cx="291694" cy="291694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6562557" y="4579132"/>
            <a:ext cx="1458377" cy="670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Lacunes identifiées : couverture partielle des champs manuscrits</a:t>
            </a:r>
            <a:endParaRPr lang="en-US" sz="1150" dirty="0"/>
          </a:p>
        </p:txBody>
      </p:sp>
      <p:sp>
        <p:nvSpPr>
          <p:cNvPr id="42" name="Shape 27"/>
          <p:cNvSpPr/>
          <p:nvPr/>
        </p:nvSpPr>
        <p:spPr>
          <a:xfrm>
            <a:off x="8283367" y="4637471"/>
            <a:ext cx="524957" cy="524957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43" name="Icone 67 - avancement" descr="avancemen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0044" y="4754148"/>
            <a:ext cx="291694" cy="291694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8910462" y="4579132"/>
            <a:ext cx="1385407" cy="670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future d’un taux de similarité entre l’extraction et la base ATLAS</a:t>
            </a:r>
            <a:endParaRPr lang="en-US" sz="1150" dirty="0"/>
          </a:p>
        </p:txBody>
      </p:sp>
      <p:sp>
        <p:nvSpPr>
          <p:cNvPr id="45" name="Shape 29"/>
          <p:cNvSpPr/>
          <p:nvPr/>
        </p:nvSpPr>
        <p:spPr>
          <a:xfrm>
            <a:off x="10507279" y="4637471"/>
            <a:ext cx="524957" cy="524957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46" name="Icone 68 - avancement" descr="avancemen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23956" y="4754148"/>
            <a:ext cx="291694" cy="291694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11141690" y="4579132"/>
            <a:ext cx="729143" cy="670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par lot</a:t>
            </a:r>
            <a:endParaRPr lang="en-US" sz="1150" dirty="0"/>
          </a:p>
        </p:txBody>
      </p:sp>
      <p:sp>
        <p:nvSpPr>
          <p:cNvPr id="48" name="Shape 31"/>
          <p:cNvSpPr/>
          <p:nvPr/>
        </p:nvSpPr>
        <p:spPr>
          <a:xfrm>
            <a:off x="5716646" y="4666640"/>
            <a:ext cx="0" cy="481249"/>
          </a:xfrm>
          <a:prstGeom prst="line">
            <a:avLst/>
          </a:prstGeom>
          <a:noFill/>
          <a:ln w="12700">
            <a:solidFill>
              <a:srgbClr val="9AA3AA"/>
            </a:solidFill>
            <a:prstDash val="solid"/>
          </a:ln>
        </p:spPr>
      </p:sp>
      <p:sp>
        <p:nvSpPr>
          <p:cNvPr id="49" name="Shape 32"/>
          <p:cNvSpPr/>
          <p:nvPr/>
        </p:nvSpPr>
        <p:spPr>
          <a:xfrm>
            <a:off x="8108351" y="4666640"/>
            <a:ext cx="0" cy="481249"/>
          </a:xfrm>
          <a:prstGeom prst="line">
            <a:avLst/>
          </a:prstGeom>
          <a:noFill/>
          <a:ln w="12700">
            <a:solidFill>
              <a:srgbClr val="9AA3AA"/>
            </a:solidFill>
            <a:prstDash val="solid"/>
          </a:ln>
        </p:spPr>
      </p:sp>
      <p:sp>
        <p:nvSpPr>
          <p:cNvPr id="50" name="Shape 33"/>
          <p:cNvSpPr/>
          <p:nvPr/>
        </p:nvSpPr>
        <p:spPr>
          <a:xfrm>
            <a:off x="10339578" y="4666640"/>
            <a:ext cx="0" cy="481249"/>
          </a:xfrm>
          <a:prstGeom prst="line">
            <a:avLst/>
          </a:prstGeom>
          <a:noFill/>
          <a:ln w="12700">
            <a:solidFill>
              <a:srgbClr val="9AA3AA"/>
            </a:solidFill>
            <a:prstDash val="solid"/>
          </a:ln>
        </p:spPr>
      </p:sp>
      <p:sp>
        <p:nvSpPr>
          <p:cNvPr id="51" name="Avertissement"/>
          <p:cNvSpPr/>
          <p:nvPr/>
        </p:nvSpPr>
        <p:spPr>
          <a:xfrm>
            <a:off x="277063" y="5432268"/>
            <a:ext cx="11666738" cy="350032"/>
          </a:xfrm>
          <a:prstGeom prst="roundRect">
            <a:avLst>
              <a:gd name="adj" fmla="val 52247"/>
            </a:avLst>
          </a:prstGeom>
          <a:solidFill>
            <a:srgbClr val="FDEEE3"/>
          </a:solidFill>
          <a:ln/>
        </p:spPr>
      </p:sp>
      <p:sp>
        <p:nvSpPr>
          <p:cNvPr id="52" name="Shape 35"/>
          <p:cNvSpPr/>
          <p:nvPr/>
        </p:nvSpPr>
        <p:spPr>
          <a:xfrm>
            <a:off x="415595" y="5468752"/>
            <a:ext cx="277063" cy="277063"/>
          </a:xfrm>
          <a:prstGeom prst="ellipse">
            <a:avLst/>
          </a:prstGeom>
          <a:solidFill>
            <a:srgbClr val="EE7A1E"/>
          </a:solidFill>
          <a:ln/>
        </p:spPr>
      </p:sp>
      <p:sp>
        <p:nvSpPr>
          <p:cNvPr id="53" name="Text 36"/>
          <p:cNvSpPr txBox="1"/>
          <p:nvPr/>
        </p:nvSpPr>
        <p:spPr>
          <a:xfrm>
            <a:off x="415595" y="5468752"/>
            <a:ext cx="277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8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81" dirty="0"/>
          </a:p>
        </p:txBody>
      </p:sp>
      <p:sp>
        <p:nvSpPr>
          <p:cNvPr id="54" name="Shape 37"/>
          <p:cNvSpPr/>
          <p:nvPr/>
        </p:nvSpPr>
        <p:spPr>
          <a:xfrm>
            <a:off x="889620" y="5490606"/>
            <a:ext cx="0" cy="233355"/>
          </a:xfrm>
          <a:prstGeom prst="line">
            <a:avLst/>
          </a:prstGeom>
          <a:noFill/>
          <a:ln w="15875">
            <a:solidFill>
              <a:srgbClr val="EE7A1E"/>
            </a:solidFill>
            <a:prstDash val="solid"/>
          </a:ln>
        </p:spPr>
      </p:sp>
      <p:sp>
        <p:nvSpPr>
          <p:cNvPr id="55" name="Text 38"/>
          <p:cNvSpPr txBox="1"/>
          <p:nvPr/>
        </p:nvSpPr>
        <p:spPr>
          <a:xfrm>
            <a:off x="1035375" y="5497921"/>
            <a:ext cx="10645902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présenté correspond à un prototype testé ; il ne constitue pas encore une solution industrialisée.</a:t>
            </a:r>
            <a:endParaRPr lang="en-US" sz="1350" dirty="0"/>
          </a:p>
        </p:txBody>
      </p:sp>
      <p:sp>
        <p:nvSpPr>
          <p:cNvPr id="56" name="Shape 39"/>
          <p:cNvSpPr/>
          <p:nvPr/>
        </p:nvSpPr>
        <p:spPr>
          <a:xfrm>
            <a:off x="277063" y="5847954"/>
            <a:ext cx="11681277" cy="627096"/>
          </a:xfrm>
          <a:prstGeom prst="roundRect">
            <a:avLst>
              <a:gd name="adj" fmla="val 14581"/>
            </a:avLst>
          </a:prstGeom>
          <a:solidFill>
            <a:srgbClr val="F0F8F4"/>
          </a:solidFill>
          <a:ln/>
        </p:spPr>
      </p:sp>
      <p:sp>
        <p:nvSpPr>
          <p:cNvPr id="57" name="Shape 40"/>
          <p:cNvSpPr/>
          <p:nvPr/>
        </p:nvSpPr>
        <p:spPr>
          <a:xfrm>
            <a:off x="277063" y="5847954"/>
            <a:ext cx="36485" cy="62709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8" name="Shape 41"/>
          <p:cNvSpPr/>
          <p:nvPr/>
        </p:nvSpPr>
        <p:spPr>
          <a:xfrm>
            <a:off x="495879" y="5942686"/>
            <a:ext cx="437540" cy="437540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59" name="Icone 69 - graphique" descr="graphiqu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296" y="6030194"/>
            <a:ext cx="262524" cy="262524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1071860" y="5993801"/>
            <a:ext cx="0" cy="350032"/>
          </a:xfrm>
          <a:prstGeom prst="line">
            <a:avLst/>
          </a:prstGeom>
          <a:noFill/>
          <a:ln w="15875">
            <a:solidFill>
              <a:srgbClr val="0B4F3F"/>
            </a:solidFill>
            <a:prstDash val="solid"/>
          </a:ln>
        </p:spPr>
      </p:sp>
      <p:sp>
        <p:nvSpPr>
          <p:cNvPr id="61" name="Text 43"/>
          <p:cNvSpPr txBox="1"/>
          <p:nvPr/>
        </p:nvSpPr>
        <p:spPr>
          <a:xfrm>
            <a:off x="1225022" y="5891662"/>
            <a:ext cx="10500055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cadrage clair du périmètre permet de distinguer ce qui a été développé et testé,</a:t>
            </a:r>
            <a:pPr algn="l" indent="0" marL="0">
              <a:lnSpc>
                <a:spcPct val="100000"/>
              </a:lnSpc>
              <a:buNone/>
            </a:pP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qui reste à consolider avant industrialisation.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bellé section"/>
          <p:cNvSpPr/>
          <p:nvPr/>
        </p:nvSpPr>
        <p:spPr>
          <a:xfrm>
            <a:off x="306233" y="87508"/>
            <a:ext cx="1771924" cy="277063"/>
          </a:xfrm>
          <a:prstGeom prst="roundRect">
            <a:avLst>
              <a:gd name="adj" fmla="val 165017"/>
            </a:avLst>
          </a:prstGeom>
          <a:solidFill>
            <a:srgbClr val="E8F3EE"/>
          </a:solidFill>
          <a:ln/>
        </p:spPr>
      </p:sp>
      <p:sp>
        <p:nvSpPr>
          <p:cNvPr id="3" name="Shape 1"/>
          <p:cNvSpPr/>
          <p:nvPr/>
        </p:nvSpPr>
        <p:spPr>
          <a:xfrm>
            <a:off x="313548" y="87508"/>
            <a:ext cx="277063" cy="277063"/>
          </a:xfrm>
          <a:prstGeom prst="ellipse">
            <a:avLst/>
          </a:prstGeom>
          <a:solidFill>
            <a:srgbClr val="0B4F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13548" y="87508"/>
            <a:ext cx="277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29143" y="109362"/>
            <a:ext cx="1348923" cy="23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72889" y="218724"/>
            <a:ext cx="7641641" cy="0"/>
          </a:xfrm>
          <a:prstGeom prst="line">
            <a:avLst/>
          </a:prstGeom>
          <a:noFill/>
          <a:ln w="12700">
            <a:solidFill>
              <a:srgbClr val="0B6E4F"/>
            </a:solidFill>
            <a:prstDash val="solid"/>
          </a:ln>
        </p:spPr>
      </p:sp>
      <p:pic>
        <p:nvPicPr>
          <p:cNvPr id="7" name="Logo BNP Paribas" descr="Logo BNP Parib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484" y="138532"/>
            <a:ext cx="430225" cy="430225"/>
          </a:xfrm>
          <a:prstGeom prst="rect">
            <a:avLst/>
          </a:prstGeom>
        </p:spPr>
      </p:pic>
      <p:sp>
        <p:nvSpPr>
          <p:cNvPr id="8" name="Logo texte"/>
          <p:cNvSpPr txBox="1"/>
          <p:nvPr/>
        </p:nvSpPr>
        <p:spPr>
          <a:xfrm>
            <a:off x="10653126" y="244236"/>
            <a:ext cx="2187519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900" dirty="0"/>
          </a:p>
        </p:txBody>
      </p:sp>
      <p:sp>
        <p:nvSpPr>
          <p:cNvPr id="9" name="Titre"/>
          <p:cNvSpPr txBox="1"/>
          <p:nvPr/>
        </p:nvSpPr>
        <p:spPr>
          <a:xfrm>
            <a:off x="291694" y="422910"/>
            <a:ext cx="8385414" cy="510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Montrez-moi concrètement</a:t>
            </a:r>
            <a:endParaRPr lang="en-US" sz="4200" dirty="0"/>
          </a:p>
        </p:txBody>
      </p:sp>
      <p:sp>
        <p:nvSpPr>
          <p:cNvPr id="10" name="Sous-titre"/>
          <p:cNvSpPr txBox="1"/>
          <p:nvPr/>
        </p:nvSpPr>
        <p:spPr>
          <a:xfrm>
            <a:off x="306233" y="933328"/>
            <a:ext cx="9552097" cy="4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F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exemple illustratif permet de visualiser la lecture des documents et la structuration des informations extraites pour la recertification des clients particuliers LR.</a:t>
            </a:r>
            <a:endParaRPr lang="en-US" sz="1600" dirty="0"/>
          </a:p>
        </p:txBody>
      </p:sp>
      <p:sp>
        <p:nvSpPr>
          <p:cNvPr id="11" name="Documents originaux"/>
          <p:cNvSpPr/>
          <p:nvPr/>
        </p:nvSpPr>
        <p:spPr>
          <a:xfrm>
            <a:off x="255209" y="1421892"/>
            <a:ext cx="5862493" cy="4542739"/>
          </a:xfrm>
          <a:prstGeom prst="roundRect">
            <a:avLst>
              <a:gd name="adj" fmla="val 805"/>
            </a:avLst>
          </a:prstGeom>
          <a:solidFill>
            <a:srgbClr val="F7F8F9"/>
          </a:solidFill>
          <a:ln w="9525">
            <a:solidFill>
              <a:srgbClr val="E6E9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524" y="1429207"/>
            <a:ext cx="5847954" cy="408371"/>
          </a:xfrm>
          <a:prstGeom prst="rect">
            <a:avLst/>
          </a:prstGeom>
          <a:solidFill>
            <a:srgbClr val="E3F1EA"/>
          </a:solidFill>
          <a:ln/>
        </p:spPr>
      </p:sp>
      <p:pic>
        <p:nvPicPr>
          <p:cNvPr id="13" name="Icone 70 - document" descr="docu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25" y="1487546"/>
            <a:ext cx="291694" cy="2916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4796" y="1502085"/>
            <a:ext cx="4375038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ORIGINAUX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42717" y="1910456"/>
            <a:ext cx="5702107" cy="4010467"/>
          </a:xfrm>
          <a:prstGeom prst="roundRect">
            <a:avLst>
              <a:gd name="adj" fmla="val 684"/>
            </a:avLst>
          </a:prstGeom>
          <a:solidFill>
            <a:srgbClr val="F2F4F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2079" y="1954164"/>
            <a:ext cx="258126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 compte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215670" y="1954164"/>
            <a:ext cx="2741646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d’identité</a:t>
            </a:r>
            <a:endParaRPr lang="en-US" sz="1500" dirty="0"/>
          </a:p>
        </p:txBody>
      </p:sp>
      <p:pic>
        <p:nvPicPr>
          <p:cNvPr id="18" name="Image convention de compte" descr="Convention de compte (exempl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79" y="2245858"/>
            <a:ext cx="2581260" cy="3470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15670" y="2245858"/>
            <a:ext cx="2741646" cy="3470880"/>
          </a:xfrm>
          <a:prstGeom prst="roundRect">
            <a:avLst>
              <a:gd name="adj" fmla="val 1334"/>
            </a:avLst>
          </a:prstGeom>
          <a:solidFill>
            <a:srgbClr val="FFFFFF"/>
          </a:solidFill>
          <a:ln/>
        </p:spPr>
      </p:sp>
      <p:pic>
        <p:nvPicPr>
          <p:cNvPr id="20" name="Image CNI recto" descr="Carte d’identité recto (exempl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887" y="2413559"/>
            <a:ext cx="2493752" cy="1662471"/>
          </a:xfrm>
          <a:prstGeom prst="rect">
            <a:avLst/>
          </a:prstGeom>
        </p:spPr>
      </p:pic>
      <p:pic>
        <p:nvPicPr>
          <p:cNvPr id="21" name="Image CNI verso" descr="Carte d’identité verso (exempl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887" y="4148999"/>
            <a:ext cx="2493752" cy="139272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42717" y="5760446"/>
            <a:ext cx="5702107" cy="16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anonymisés à des fins d’illustration</a:t>
            </a:r>
            <a:endParaRPr lang="en-US" sz="1000" dirty="0"/>
          </a:p>
        </p:txBody>
      </p:sp>
      <p:pic>
        <p:nvPicPr>
          <p:cNvPr id="23" name="Icone 71 - flèche" descr="flèch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993" y="3303087"/>
            <a:ext cx="364571" cy="364571"/>
          </a:xfrm>
          <a:prstGeom prst="rect">
            <a:avLst/>
          </a:prstGeom>
        </p:spPr>
      </p:pic>
      <p:sp>
        <p:nvSpPr>
          <p:cNvPr id="24" name="Informations extraites"/>
          <p:cNvSpPr/>
          <p:nvPr/>
        </p:nvSpPr>
        <p:spPr>
          <a:xfrm>
            <a:off x="6423934" y="1421892"/>
            <a:ext cx="5556260" cy="2770815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 w="9525">
            <a:solidFill>
              <a:srgbClr val="E6E9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431250" y="1429207"/>
            <a:ext cx="5541721" cy="408371"/>
          </a:xfrm>
          <a:prstGeom prst="rect">
            <a:avLst/>
          </a:prstGeom>
          <a:solidFill>
            <a:srgbClr val="E3F1EA"/>
          </a:solidFill>
          <a:ln/>
        </p:spPr>
      </p:sp>
      <p:pic>
        <p:nvPicPr>
          <p:cNvPr id="26" name="Icone 72 - base" descr="ba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927" y="1487546"/>
            <a:ext cx="291694" cy="29169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956298" y="1502085"/>
            <a:ext cx="4375038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EXTRAITES</a:t>
            </a:r>
            <a:endParaRPr lang="en-US" sz="1900" dirty="0"/>
          </a:p>
        </p:txBody>
      </p:sp>
      <p:sp>
        <p:nvSpPr>
          <p:cNvPr id="28" name="Shape 19"/>
          <p:cNvSpPr/>
          <p:nvPr/>
        </p:nvSpPr>
        <p:spPr>
          <a:xfrm>
            <a:off x="6577096" y="1954164"/>
            <a:ext cx="5264567" cy="401056"/>
          </a:xfrm>
          <a:prstGeom prst="roundRect">
            <a:avLst>
              <a:gd name="adj" fmla="val 27360"/>
            </a:avLst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6642750" y="1968795"/>
            <a:ext cx="364571" cy="364571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30" name="Icone 73 - Nom &amp; Prénom :" descr="Nom &amp; Prénom :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2943" y="2048988"/>
            <a:ext cx="204186" cy="20418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175022" y="2027133"/>
            <a:ext cx="4520885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&amp; Prénom 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…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577096" y="2457267"/>
            <a:ext cx="5264567" cy="401056"/>
          </a:xfrm>
          <a:prstGeom prst="roundRect">
            <a:avLst>
              <a:gd name="adj" fmla="val 27360"/>
            </a:avLst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642750" y="2471898"/>
            <a:ext cx="364571" cy="364571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34" name="Icone 74 - Date de naissance :" descr="Date de naissance :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2943" y="2552090"/>
            <a:ext cx="204186" cy="20418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175022" y="2530236"/>
            <a:ext cx="4520885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 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…</a:t>
            </a:r>
            <a:endParaRPr lang="en-US" sz="1400" dirty="0"/>
          </a:p>
        </p:txBody>
      </p:sp>
      <p:sp>
        <p:nvSpPr>
          <p:cNvPr id="36" name="Shape 25"/>
          <p:cNvSpPr/>
          <p:nvPr/>
        </p:nvSpPr>
        <p:spPr>
          <a:xfrm>
            <a:off x="6577096" y="2967685"/>
            <a:ext cx="5264567" cy="401056"/>
          </a:xfrm>
          <a:prstGeom prst="roundRect">
            <a:avLst>
              <a:gd name="adj" fmla="val 27360"/>
            </a:avLst>
          </a:prstGeom>
          <a:solidFill>
            <a:srgbClr val="FFFFFF"/>
          </a:solidFill>
          <a:ln w="9525">
            <a:solidFill>
              <a:srgbClr val="E3E6E8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6642750" y="2982316"/>
            <a:ext cx="364571" cy="364571"/>
          </a:xfrm>
          <a:prstGeom prst="ellipse">
            <a:avLst/>
          </a:prstGeom>
          <a:solidFill>
            <a:srgbClr val="D9F3E7"/>
          </a:solidFill>
          <a:ln/>
        </p:spPr>
      </p:sp>
      <p:pic>
        <p:nvPicPr>
          <p:cNvPr id="38" name="Icone 75 - Date d’expiration du document :" descr="Date d’expiration du document :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2943" y="3062508"/>
            <a:ext cx="204186" cy="204186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175022" y="3040654"/>
            <a:ext cx="4520885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d’expiration du document 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…</a:t>
            </a:r>
            <a:endParaRPr lang="en-US" sz="1400" dirty="0"/>
          </a:p>
        </p:txBody>
      </p:sp>
      <p:sp>
        <p:nvSpPr>
          <p:cNvPr id="40" name="Résultat"/>
          <p:cNvSpPr/>
          <p:nvPr/>
        </p:nvSpPr>
        <p:spPr>
          <a:xfrm>
            <a:off x="6577096" y="3500049"/>
            <a:ext cx="5264567" cy="597926"/>
          </a:xfrm>
          <a:prstGeom prst="roundRect">
            <a:avLst>
              <a:gd name="adj" fmla="val 18351"/>
            </a:avLst>
          </a:prstGeom>
          <a:solidFill>
            <a:srgbClr val="E7F5EE"/>
          </a:solidFill>
          <a:ln/>
        </p:spPr>
      </p:sp>
      <p:sp>
        <p:nvSpPr>
          <p:cNvPr id="41" name="Shape 29"/>
          <p:cNvSpPr/>
          <p:nvPr/>
        </p:nvSpPr>
        <p:spPr>
          <a:xfrm>
            <a:off x="6686459" y="3623950"/>
            <a:ext cx="350032" cy="350032"/>
          </a:xfrm>
          <a:prstGeom prst="ellipse">
            <a:avLst/>
          </a:prstGeom>
          <a:solidFill>
            <a:srgbClr val="2EA35F"/>
          </a:solidFill>
          <a:ln/>
        </p:spPr>
      </p:sp>
      <p:pic>
        <p:nvPicPr>
          <p:cNvPr id="42" name="Icone 76 - coche" descr="coch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2112" y="3689604"/>
            <a:ext cx="218724" cy="21872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7233361" y="3572927"/>
            <a:ext cx="2552090" cy="452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 :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cohérent avec le document source</a:t>
            </a:r>
            <a:endParaRPr lang="en-US" sz="1350" dirty="0"/>
          </a:p>
        </p:txBody>
      </p:sp>
      <p:sp>
        <p:nvSpPr>
          <p:cNvPr id="44" name="Shape 31"/>
          <p:cNvSpPr/>
          <p:nvPr/>
        </p:nvSpPr>
        <p:spPr>
          <a:xfrm>
            <a:off x="9807306" y="3645804"/>
            <a:ext cx="0" cy="306233"/>
          </a:xfrm>
          <a:prstGeom prst="line">
            <a:avLst/>
          </a:prstGeom>
          <a:noFill/>
          <a:ln w="12700">
            <a:solidFill>
              <a:srgbClr val="2EA35F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9945837" y="3645804"/>
            <a:ext cx="306233" cy="306233"/>
          </a:xfrm>
          <a:prstGeom prst="ellipse">
            <a:avLst/>
          </a:prstGeom>
          <a:solidFill>
            <a:srgbClr val="2EA35F"/>
          </a:solidFill>
          <a:ln/>
        </p:spPr>
      </p:sp>
      <p:pic>
        <p:nvPicPr>
          <p:cNvPr id="46" name="Icone 77 - coche" descr="coch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3262" y="3703229"/>
            <a:ext cx="191384" cy="191384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10310409" y="3667750"/>
            <a:ext cx="1531254" cy="2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correcte</a:t>
            </a:r>
            <a:endParaRPr lang="en-US" sz="1350" dirty="0"/>
          </a:p>
        </p:txBody>
      </p:sp>
      <p:sp>
        <p:nvSpPr>
          <p:cNvPr id="48" name="Zone vidéo"/>
          <p:cNvSpPr/>
          <p:nvPr/>
        </p:nvSpPr>
        <p:spPr>
          <a:xfrm>
            <a:off x="6423934" y="4316700"/>
            <a:ext cx="5556260" cy="1662471"/>
          </a:xfrm>
          <a:prstGeom prst="roundRect">
            <a:avLst>
              <a:gd name="adj" fmla="val 2750"/>
            </a:avLst>
          </a:prstGeom>
          <a:solidFill>
            <a:srgbClr val="F0F2F3"/>
          </a:solidFill>
          <a:ln w="9525">
            <a:solidFill>
              <a:srgbClr val="E6E9EB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6562557" y="4367723"/>
            <a:ext cx="262524" cy="262524"/>
          </a:xfrm>
          <a:prstGeom prst="ellipse">
            <a:avLst/>
          </a:prstGeom>
          <a:solidFill>
            <a:srgbClr val="0B4F3F"/>
          </a:solidFill>
          <a:ln/>
        </p:spPr>
      </p:sp>
      <p:pic>
        <p:nvPicPr>
          <p:cNvPr id="50" name="Icone 78 - lecture" descr="lectur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9974" y="4440601"/>
            <a:ext cx="116677" cy="116677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6963522" y="4375038"/>
            <a:ext cx="4739610" cy="247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réservé pour la vidéo de démonstration</a:t>
            </a:r>
            <a:endParaRPr lang="en-US" sz="1500" dirty="0"/>
          </a:p>
        </p:txBody>
      </p:sp>
      <p:pic>
        <p:nvPicPr>
          <p:cNvPr id="52" name="Vidéo (remplacer par le MP4)" descr="Emplacement vidé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7096" y="4703125"/>
            <a:ext cx="5264567" cy="1195852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8895832" y="4768779"/>
            <a:ext cx="583296" cy="583296"/>
          </a:xfrm>
          <a:prstGeom prst="ellipse">
            <a:avLst/>
          </a:prstGeom>
          <a:solidFill>
            <a:srgbClr val="10302A"/>
          </a:solidFill>
          <a:ln/>
        </p:spPr>
      </p:sp>
      <p:pic>
        <p:nvPicPr>
          <p:cNvPr id="54" name="Icone 79 - lecture" descr="lectur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2702" y="4929165"/>
            <a:ext cx="262524" cy="262524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7364578" y="5425044"/>
            <a:ext cx="3645804" cy="36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vidéo de démonstration sera insérée ici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(format MP4)</a:t>
            </a:r>
            <a:endParaRPr lang="en-US" sz="1350" dirty="0"/>
          </a:p>
        </p:txBody>
      </p:sp>
      <p:sp>
        <p:nvSpPr>
          <p:cNvPr id="56" name="Message clé"/>
          <p:cNvSpPr/>
          <p:nvPr/>
        </p:nvSpPr>
        <p:spPr>
          <a:xfrm>
            <a:off x="240670" y="6095848"/>
            <a:ext cx="11739616" cy="422910"/>
          </a:xfrm>
          <a:prstGeom prst="roundRect">
            <a:avLst>
              <a:gd name="adj" fmla="val 64865"/>
            </a:avLst>
          </a:prstGeom>
          <a:solidFill>
            <a:srgbClr val="E3F1EA"/>
          </a:solidFill>
          <a:ln/>
        </p:spPr>
      </p:sp>
      <p:pic>
        <p:nvPicPr>
          <p:cNvPr id="57" name="Icone 80 - idée" descr="idé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09400" y="6168725"/>
            <a:ext cx="277063" cy="277063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1954164" y="6190671"/>
            <a:ext cx="0" cy="233355"/>
          </a:xfrm>
          <a:prstGeom prst="line">
            <a:avLst/>
          </a:prstGeom>
          <a:noFill/>
          <a:ln w="15875">
            <a:solidFill>
              <a:srgbClr val="00915A"/>
            </a:solidFill>
            <a:prstDash val="solid"/>
          </a:ln>
        </p:spPr>
      </p:sp>
      <p:sp>
        <p:nvSpPr>
          <p:cNvPr id="59" name="Text 41"/>
          <p:cNvSpPr txBox="1"/>
          <p:nvPr/>
        </p:nvSpPr>
        <p:spPr>
          <a:xfrm>
            <a:off x="2129180" y="6168725"/>
            <a:ext cx="977082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7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démonstration visuelle permet d’illustrer concrètement la valeur de la solution au-delà des explications techniques.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3769" y="6569781"/>
            <a:ext cx="291694" cy="1895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1F2A3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IA – Recertification des clients particuliers LR</dc:title>
  <dc:subject>PptxGenJS Presentation</dc:subject>
  <dc:creator>PptxGenJS</dc:creator>
  <cp:lastModifiedBy>PptxGenJS</cp:lastModifiedBy>
  <cp:revision>1</cp:revision>
  <dcterms:created xsi:type="dcterms:W3CDTF">2026-10-14T11:38:33Z</dcterms:created>
  <dcterms:modified xsi:type="dcterms:W3CDTF">2026-10-14T11:38:33Z</dcterms:modified>
</cp:coreProperties>
</file>